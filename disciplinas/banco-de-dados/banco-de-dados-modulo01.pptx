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destino logo no início: o aluno sai daqui sabendo modelar e escrever SQL, com um projeto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central da aula. Repita: ninguém mexe nos dados direto; tudo passa pelo SGBD, que controla e protege.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aprofundar cada tipo; a meta é o aluno perceber que NoSQL é uma família. Documento (MongoDB) é o mais comum de citar.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ser feito em dupla, oral ou escrito. Gabarito no próximo slide — não exibir antes de tentarem.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Insista na analogia: ninguém levanta parede sem planta. No banco é igual, com o agravante de que depois já há dados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ponto-chave: é a MESMA informação em três formas. Mostre que aluno/matricula/nome aparece nos três painéis.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copiem esta legenda no caderno. Todo diagrama do Módulo 02 usa exatamente estas quatro formas.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método que eles vão repetir o módulo inteiro. Faça junto na lousa com outra frase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Construa junto na lousa nesta ordem. Muitos alunos erram por começar pelos atributos; a ordem aqui evita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diagrama em voz alta com a turma, apontando cada forma. Depois peça que um aluno leia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desenharem no papel. A cardinalidade Leitor-Livro gera boa discussão: N:N, porque ao longo do tempo um livro passa por vários leitores.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4114800" cy="4114800"/>
          </a:xfrm>
          <a:prstGeom prst="ellipse">
            <a:avLst/>
          </a:prstGeom>
          <a:solidFill>
            <a:srgbClr val="0C46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772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· 60 HORAS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9659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Banco de Dados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 </a:t>
            </a:r>
            <a:pPr indent="0" marL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Visão Geral sobre Banco de Dados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· Aulas 01 a 05 · Eixo Informação e Comunicação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DISCIPLINA SE ORGANIZA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disciplina em 3 módulos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960120" cy="9601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243459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Visão Geral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17880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banco de dados, SGBD e introdução à modelagem.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" y="51663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532888" y="2039112"/>
            <a:ext cx="1417320" cy="256032"/>
          </a:xfrm>
          <a:prstGeom prst="rect">
            <a:avLst/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71416" y="178308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37176" y="2194560"/>
            <a:ext cx="960120" cy="96012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206" y="2434590"/>
            <a:ext cx="480060" cy="4800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37176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37176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Modelagem de Dados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837176" y="417880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conceitual e lógico: entidades, atributos e relacionamentos.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837176" y="51663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 a 4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302752" y="178308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68512" y="2194560"/>
            <a:ext cx="960120" cy="96012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542" y="2434590"/>
            <a:ext cx="480060" cy="4800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68512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668512" y="3611880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Introdução a SQL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668512" y="4178808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Criar, consultar e manipular dados; projeto final de banco.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8668512" y="51663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 a 12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DA SEMANA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veremos nesta semana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9384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9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91109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Apresentação da disciplina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curso, materiais, ferramentas e avaliações.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89504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87121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Introdução a Banco de Dados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45920" y="320040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onde está e por que existe.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49624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8313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SGBD e principais bancos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5920" y="416052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um gerenciador e quais são os mais usados.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809744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479145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Exercício de revisão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45920" y="512064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Fixação dos conceitos das aulas anteriores.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769864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769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45920" y="575157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Introdução à modelagem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45920" y="6080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contato com o Modelo Conceitual.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C46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AULA INICIAL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Apresentação da disciplina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50 min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VISÃO GERAL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vamos aprender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60 horas, você vai percorrer três grandes etapas: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6032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83464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3063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67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 Entender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51560" y="40782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dados, bancos de dados e SGBDs.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05656" y="3474720"/>
            <a:ext cx="457200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99432" y="256032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5292" y="283464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892" y="3063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3767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Modelar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828032" y="40782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Desenhar a estrutura do banco antes de criá-lo.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82128" y="3474720"/>
            <a:ext cx="457200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8375904" y="256032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541764" y="283464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364" y="30632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67344" y="37673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· Programar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604504" y="40782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e consultar os dados usando SQL.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22960" y="48920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0E74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5138928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20240" y="48920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 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um projeto completo: do modelo conceitual ao banco funcionando.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PLANO DE CURSO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vamos avançar, semana a semana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72237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Conceitos: banco de dados, SGBD e introdução à modelagem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2–3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conceitual: entidades, atributos e relacionamentos (brModelo)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lógico e primeiro contato com o MariaDB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5–7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— criar e manipular dados (CREATE, INSERT, UPDATE, DELETE)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8–9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— consultas: SELECT, JOINs, funções e agrupamentos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10–12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Projeto: do modelo lógico ao físico e avaliação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MATERIAIS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Ferramentas que vamos usar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brModelo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desenhar os modelos conceitual e lógico.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502920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em: Módulo 02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71416" y="182880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37176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37176" y="32918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MariaDB / MySQL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837176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 onde os dados realmente ficam guardados.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37176" y="502920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em: Módulos 02 e 03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302752" y="1828800"/>
            <a:ext cx="3584448" cy="36576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68512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423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68512" y="329184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MySQL Workbench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68512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visual para criar tabelas e rodar comandos SQL.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68512" y="502920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em: Módulo 03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são gratuitas e rodam no Linux Mint do laboratório.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 · AVALIAÇÃO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você será avaliado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Exercícios práticos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383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longo de quase todas as aulas.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Servem para fixar e mostrar onde você está.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são feitos direto no brModelo ou no SGBD.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Projeto final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537960" y="3383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de dados completo.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modelo conceitual ao modelo físico.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tudo o que aprendemos na disciplina.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4FAF9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Combinados:  </a:t>
            </a:r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nas aulas práticas, entregas no prazo e trabalho em dupla quando indicado.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C46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INTRODUÇÃO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Introdução a Banco de Dados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50 min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CONCEITO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é um banco de dados?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92240" cy="3840480"/>
          </a:xfrm>
          <a:prstGeom prst="roundRect">
            <a:avLst>
              <a:gd name="adj" fmla="val 2381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
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banco de dados é uma coleção organizada de dados, guardada de forma que possa ser facilmente acessada, pesquisada e atualizada.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4754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Palavra-chave: </a:t>
            </a:r>
            <a:pPr indent="0" marL="0">
              <a:buNone/>
            </a:pPr>
            <a:r>
              <a:rPr lang="en-US" sz="1500" b="1" i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organizada. </a:t>
            </a:r>
            <a:pPr indent="0" marL="0">
              <a:buNone/>
            </a:pPr>
            <a:r>
              <a:rPr lang="en-US" sz="15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solto não é banco de dados.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160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DIA A DIA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agenda de contatos do celular</a:t>
            </a:r>
            <a:endParaRPr lang="en-US" sz="1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3017520"/>
          <a:ext cx="352044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Lima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(85) 9 9999-1010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 Sá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(85) 9 8888-2020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Reis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(85) 9 7777-3030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80960" y="5029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 registro; cada coluna é um campo.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VOCABULÁRIO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Anatomia de uma tabela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5943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1463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Lima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 Sá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Carla Reis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16916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Alunos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0" y="1920240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86600" y="2212848"/>
            <a:ext cx="640080" cy="6400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2372868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20848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Registro (linha)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863840" y="24231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item completo da tabela. Aqui, um aluno inteiro.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0" y="3291840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86600" y="3584448"/>
            <a:ext cx="640080" cy="6400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374446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63840" y="3456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Campo (coluna)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863840" y="37947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tipo de dado guardado para todos os registros.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0" y="4663440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086600" y="4956048"/>
            <a:ext cx="640080" cy="6400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5116068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0" y="4828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Chave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863840" y="516636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que identifica cada registro sem repetir. Aqui, a matrícula.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NO DIA A DIA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Bancos de dados estão em todo lugar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Redes sociais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670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curtidas e seguidores.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71416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056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3016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Bancos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43016" y="2670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e transações.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302752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22792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2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74352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Escola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74352" y="26700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faltas e matrículas.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" y="42519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4805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1168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Lojas online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011680" y="46817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 pedidos.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71416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91456" y="42519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6" y="448056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43016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843016" y="46817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 histórico.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302752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22792" y="42519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448056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74352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Saúde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674352" y="46817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Prontuários de pacientes.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CONCEITO-CHAVE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Dado x Informação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4117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DADO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valor isolado, sem contexto. Sozinho, diz pouco.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977640"/>
            <a:ext cx="4663440" cy="548640"/>
          </a:xfrm>
          <a:prstGeom prst="rect">
            <a:avLst/>
          </a:prstGeom>
          <a:solidFill>
            <a:srgbClr val="F4FA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  ·   "Ana"   ·   2026-06-15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2880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945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1173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INFORMAÇÃO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organizados e com contexto. Geram significado.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537960" y="3977640"/>
            <a:ext cx="46634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"Ana, 28 anos, matriculou-se em 15/06/2026."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dados guarda dados; o uso desses dados, organizados, produz informação.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POR QUE USAR BANCO DE DADOS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 se guardássemos tudo em arquivos soltos?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Redundância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dado repetido em vários arquivos, ocupando espaço.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10712" y="18745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9392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Inconsistência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93592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num arquivo, esquece no outro: versões diferentes.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81344" y="18745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50024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Difícil de buscar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64224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um registro vira uma caça manual demorada.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951976" y="18745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20656" y="22402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24688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4856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Sem controle de acesso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34856" y="38862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abre, altera ou apaga sem registro.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de dados resolve todos esses problemas de uma vez — com a ajuda de um SGBD.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FECHANDO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essencial da aula 02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É uma coleção organizada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05840" y="406908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guarda dados de forma estruturada e fácil de acessar.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71416" y="19202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37176" y="228600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37176" y="33832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Dado vira informação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837176" y="406908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contexto e organização, o dado passa a ter significado.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302752" y="19202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8600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5146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3832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Resolve os problemas dos arquivos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668512" y="4069080"/>
            <a:ext cx="2852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Acaba com redundância, inconsistência e falta de controle.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C46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GERENCIADOR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SGBD e principais bancos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50 min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CONCEITO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SGBD — Sistema Gerenciador de Banco de Dados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software que fica entre você e os dados. Você pede; ele cuida de guardar, proteger e devolver com segurança.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3310128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5387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Usuário / Aplicativo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498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pedidos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17720" y="30175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0E7490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23560" y="3310128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353872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SGBD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498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tudo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412480" y="3017520"/>
            <a:ext cx="29260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18320" y="3310128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53872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Banco de Dados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03920" y="44988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794760" y="3886200"/>
            <a:ext cx="777240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589520" y="3886200"/>
            <a:ext cx="777240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headEnd type="triangle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SGBD: MySQL, MariaDB, PostgreSQL, Oracle, SQL Server.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PARA ENTENDER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SGBD é como um bibliotecário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entra no acervo bagunçado: você pede e ele cuida do resto.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biblioteca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banco de dados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pede um livro ao bibliotecário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Seu app faz um pedido ao SGBD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B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 acha e entrega o livro certo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 busca e devolve os dados certos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 quem pode pegar e levar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 quem pode ver e alterar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B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as estantes em ordem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os dados íntegros e organizados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FUNÇÕES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um SGBD faz por você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50317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Armazena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os dados de forma estruturada.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71416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8600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626" y="250317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97296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Consulta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97296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devolve dados rapidamente.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02752" y="182880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22792" y="228600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962" y="250317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28632" y="2212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Integridade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628632" y="26334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dados inválidos ou duplicados.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" y="429768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290" y="45148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224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965960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quem pode ver e alterar.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71416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91456" y="429768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626" y="4514850"/>
            <a:ext cx="434340" cy="4343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97296" y="4224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Multiusuário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797296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usuários ao mesmo tempo.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302752" y="3840480"/>
            <a:ext cx="358444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22792" y="429768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962" y="4514850"/>
            <a:ext cx="434340" cy="4343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628632" y="4224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Backup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628632" y="4645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Cópias para recuperar em caso de falha.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PANORAMA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SGBDs e suas diferenças</a:t>
            </a:r>
            <a:endParaRPr lang="en-US" sz="2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657600"/>
                <a:gridCol w="24688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SGBD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Destaque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aparece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/ MariaDB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 e muito usado na 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e sistemas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 e cheio de recursos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complexos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Leve, num único arquivo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de celular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em grandes empresas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Bancos, governo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Forte no ecossistema Microsoft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relacional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documentos (JSON)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modernos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disciplina usaremos o MariaDB / MySQL com o MySQL Workbench.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COMPARAÇÃO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Relacional x Não relacional (NoSQL)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 ·  SQL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organizados em tabelas, com linhas e colunas bem definidas.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3200400"/>
          <a:ext cx="4617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3172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0584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MySQL, MariaDB, PostgreSQL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RELACIONAL  ·  NoSQL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24688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em formatos flexíveis, como documentos parecidos com JSON.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37960" y="3200400"/>
            <a:ext cx="4617720" cy="1554480"/>
          </a:xfrm>
          <a:prstGeom prst="rect">
            <a:avLst/>
          </a:prstGeom>
          <a:solidFill>
            <a:srgbClr val="F4FAF9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1,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"nome": "Ana",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"idade": 28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B55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37960" y="5257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MongoDB, Redis, Cassandra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NOSQL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quatro tipos de banco NoSQL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não é um formato único, mas uma família de bancos que guardam os dados de maneiras diferentes das tabelas.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4406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4320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971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542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Documento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57400" y="29443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parecidos com JSON, cada um com seus campos.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057400" y="3584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MongoDB, CouchDB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2286000"/>
            <a:ext cx="54406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74320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9718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5420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Chave-valor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680960" y="29443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chave e valor, como um dicionário. Muito rápido.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680960" y="35844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Redis, DynamoDB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261104"/>
            <a:ext cx="54406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60120" y="4718304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946904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57400" y="45171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Colunar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2057400" y="491947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por colunas; bom para grandes volumes.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2057400" y="5559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Cassandra, HBase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261104"/>
            <a:ext cx="5440680" cy="181051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83680" y="4718304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946904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80960" y="45171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Grafo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7680960" y="491947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e conexões; ideal para redes de relacionamentos.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680960" y="555955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Neo4j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NOSSA ESCOLHA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vamos usar MariaDB / MySQL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60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Gratuito e open source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10312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a escola e para você.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3172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60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26680" y="2258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Muito usado no mercado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726680" y="2697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em incontáveis sites e sistemas reais.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2976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5262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Integra com o Workbench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2103120" y="4663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visual que facilita aprender e praticar.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8404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9768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5262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42245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Roda no nosso laboratório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726680" y="4663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bem no Linux Mint que já usamos.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C46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FIXAÇÃO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Exercício de revisão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50 min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FIXAÇÃO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Exercício de revisão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 suas palavras, o que é um banco de dados?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42032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Qual a diferença entre dado e informação? Dê um exemplo.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5526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Cite três problemas de guardar dados em arquivos soltos.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68496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 que significa a sigla SGBD e qual é o seu papel?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681728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681728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Liste três funções de um SGBD.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394960"/>
            <a:ext cx="10881360" cy="603504"/>
          </a:xfrm>
          <a:prstGeom prst="roundRect">
            <a:avLst>
              <a:gd name="adj" fmla="val 10606"/>
            </a:avLst>
          </a:prstGeom>
          <a:solidFill>
            <a:srgbClr val="0C464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39496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Dê um exemplo de SGBD relacional e um de não relacional.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GABARITO COMENTADO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Respostas esperadas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1965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Coleção de dados organizada para ser acessada, buscada e atualizada com facilidade.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4597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é valor isolado (28); informação é o dado com contexto (Ana tem 28 anos).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1729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13639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Redundância, inconsistência, busca difícil e falta de controle de acesso (cite 3).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Gerenciador de Banco de Dados: software que gerencia o acesso aos dados.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4897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Armazenar, consultar, garantir integridade, segurança, multiusuário, backup (cite 3).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02936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Relacional: MySQL / MariaDB / PostgreSQL. Não relacional: MongoDB.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04 · DESAFIO EXTRA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 pensar além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Modele uma tabela de produtos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886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precisa guardar seus produtos. Que campos a tabela Produto teria? (dica: nome, preço, quantidade...)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2918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Encontre entidades na sua escola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3886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 em duas "coisas" da escola sobre as quais guardaríamos dados e como elas se relacionam.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desafios já preparam o terreno para a modelagem, que começa na Aula 05.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943600" cy="5943600"/>
          </a:xfrm>
          <a:prstGeom prst="ellipse">
            <a:avLst/>
          </a:prstGeom>
          <a:solidFill>
            <a:srgbClr val="0B556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0" y="91440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C464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 · MODELAGEM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Introdução à modelagem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50 min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POR QUE MODELAR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construir, faz-se a planta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Sem planejar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Descobre o erro só depois de tudo pronto.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Refazer custa tempo e pode perder dados.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já está em uso quando o problema aparece.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868680" cy="86868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32029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Modelando antes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200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aparece ainda no papel, e apagar é barato.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mundo enxerga a estrutura antes de programar.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nasce já organizado.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é desenhar a estrutura do banco antes de criá-lo, como a planta antes da casa.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OS TRÊS NÍVEIS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conceito ao banco funcionando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84448" cy="4114800"/>
          </a:xfrm>
          <a:prstGeom prst="roundRect">
            <a:avLst>
              <a:gd name="adj" fmla="val 2551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CONCEITUAL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ideia, sem tecnologia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234440" y="2880360"/>
            <a:ext cx="2377440" cy="6858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ALUNO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1540" y="3794760"/>
            <a:ext cx="105156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1540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25980" y="3794760"/>
            <a:ext cx="105156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5980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3794760"/>
            <a:ext cx="0" cy="-22860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3794760"/>
            <a:ext cx="0" cy="-22860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atributos e relacionamentos.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71416" y="1783080"/>
            <a:ext cx="3584448" cy="4114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45736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LÓGICO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5736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Vira tabela</a:t>
            </a:r>
            <a:endParaRPr lang="en-US" sz="15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45736" y="2880360"/>
          <a:ext cx="30175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matricula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3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45736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colunas e chaves (PK, FK).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302752" y="1783080"/>
            <a:ext cx="3584448" cy="4114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577072" y="2011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FÍSICO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77072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Vira comando SQL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8577072" y="2880360"/>
            <a:ext cx="3017520" cy="1417320"/>
          </a:xfrm>
          <a:prstGeom prst="roundRect">
            <a:avLst>
              <a:gd name="adj" fmla="val 3871"/>
            </a:avLst>
          </a:prstGeom>
          <a:solidFill>
            <a:srgbClr val="0A3334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0" y="29718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aluno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matricula INT,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 VARCHAR(50)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577072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 no SGBD escolhido.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242816" y="3840480"/>
            <a:ext cx="210312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074152" y="3840480"/>
            <a:ext cx="210312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trabalhamos o nível conceitual. Os outros dois vêm nos módulos seguintes.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NOTAÇÃO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símbolos do diagrama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desenhar, é preciso conhecer as quatro formas usadas em qualquer diagrama entidade-relacionamento.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724912" cy="33832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2606040"/>
            <a:ext cx="1828800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74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Retângulo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6732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Entidade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"coisa" sobre a qual guardamos dados.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ALUNO, TURMA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83864" y="2286000"/>
            <a:ext cx="2724912" cy="33832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2606040"/>
            <a:ext cx="1828800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3474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66744" y="376732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Atributo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66744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característica da entidade.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66744" y="525780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idade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7648" y="2286000"/>
            <a:ext cx="2724912" cy="33832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9984" y="2542032"/>
            <a:ext cx="1920240" cy="786384"/>
          </a:xfrm>
          <a:prstGeom prst="diamond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3474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Losango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10528" y="376732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Relacionamento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10528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 entre duas entidades.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10528" y="525780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cursa, matricula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71432" y="2286000"/>
            <a:ext cx="2724912" cy="33832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619488" y="2935224"/>
            <a:ext cx="1828800" cy="0"/>
          </a:xfrm>
          <a:prstGeom prst="line">
            <a:avLst/>
          </a:prstGeom>
          <a:noFill/>
          <a:ln w="38100">
            <a:solidFill>
              <a:srgbClr val="0B5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05288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56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54312" y="347472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54312" y="3767328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Ligação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54312" y="4251960"/>
            <a:ext cx="2359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as formas e carrega a cardinalidade.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54312" y="525780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MODELO CONCEITUAL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 três peças fundamentais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Entidade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"ser" ou objeto do mundo real sobre o qual queremos guardar dados. Costuma ser um substantivo.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05840" y="5120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· Turma · Professor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71416" y="182880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37176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37176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Atributo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837176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característica que descreve a entidade. É o que vira coluna na tabela.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37176" y="5120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· idade · matrícula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02752" y="1828800"/>
            <a:ext cx="3584448" cy="384048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68512" y="2194560"/>
            <a:ext cx="914400" cy="914400"/>
          </a:xfrm>
          <a:prstGeom prst="ellipse">
            <a:avLst/>
          </a:prstGeom>
          <a:solidFill>
            <a:srgbClr val="ECFBF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4231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68512" y="3291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Relacionamento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668512" y="379476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ligação entre duas entidades. Costuma ser um verbo.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668512" y="5120640"/>
            <a:ext cx="2852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cursa Turma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MÉTODO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 texto ao modelo: como começar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4FAF9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91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escola precisa registrar os </a:t>
            </a:r>
            <a:pPr indent="0" marL="0">
              <a:buNone/>
            </a:pPr>
            <a:r>
              <a:rPr lang="en-US" sz="17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</a:t>
            </a:r>
            <a:pPr indent="0" marL="0">
              <a:buNone/>
            </a:pPr>
            <a:r>
              <a:rPr lang="en-US" sz="17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se </a:t>
            </a:r>
            <a:pPr indent="0" marL="0">
              <a:buNone/>
            </a:pPr>
            <a:r>
              <a:rPr lang="en-US" sz="17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matriculam</a:t>
            </a:r>
            <a:pPr indent="0" marL="0">
              <a:buNone/>
            </a:pPr>
            <a:r>
              <a:rPr lang="en-US" sz="17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nas </a:t>
            </a:r>
            <a:pPr indent="0" marL="0">
              <a:buNone/>
            </a:pPr>
            <a:r>
              <a:rPr lang="en-US" sz="17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</a:t>
            </a:r>
            <a:pPr indent="0" marL="0">
              <a:buNone/>
            </a:pPr>
            <a:r>
              <a:rPr lang="en-US" sz="170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 cada aluno guardamos nome e idade."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3291840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Sublinhe os substantivos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45920" y="34930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 Turma são coisas sobre as quais guardamos dados.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entidades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834640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6248" y="3291840"/>
            <a:ext cx="548640" cy="5486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69480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Procure os verbos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269480" y="34930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Matricular-se liga um aluno a uma turma.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332720" y="306324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relacionamento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462272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919472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690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Veja o que descreve cada um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64592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idade descrevem o aluno.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09160" y="469087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atributos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462272"/>
            <a:ext cx="5440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6248" y="4919472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6" name="Text 24"/>
          <p:cNvSpPr/>
          <p:nvPr/>
        </p:nvSpPr>
        <p:spPr>
          <a:xfrm>
            <a:off x="6556248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69480" y="46908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Pergunte quantos para quantos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269480" y="5120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aluno pode estar em várias turmas?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332720" y="469087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cardinalidade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RELACIONAMENTOS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Cardinalidade: quantos para quantos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: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para 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40280" y="3474720"/>
            <a:ext cx="384048" cy="0"/>
          </a:xfrm>
          <a:prstGeom prst="line">
            <a:avLst/>
          </a:prstGeom>
          <a:noFill/>
          <a:ln w="25400">
            <a:solidFill>
              <a:srgbClr val="0B5566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24328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24328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tem um único CPF, e cada CPF é de uma só pessoa.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71416" y="182880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: 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45736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para muitos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45736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736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1616" y="3474720"/>
            <a:ext cx="384048" cy="0"/>
          </a:xfrm>
          <a:prstGeom prst="line">
            <a:avLst/>
          </a:prstGeom>
          <a:noFill/>
          <a:ln w="25400">
            <a:solidFill>
              <a:srgbClr val="0B5566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55664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45736" y="397764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faz vários pedidos, mas cada pedido é de um cliente.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02752" y="182880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77072" y="21031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 : 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577072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para muitos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77072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77072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902952" y="3474720"/>
            <a:ext cx="384048" cy="0"/>
          </a:xfrm>
          <a:prstGeom prst="line">
            <a:avLst/>
          </a:prstGeom>
          <a:noFill/>
          <a:ln w="25400">
            <a:solidFill>
              <a:srgbClr val="0B5566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87000" y="3200400"/>
            <a:ext cx="1325880" cy="548640"/>
          </a:xfrm>
          <a:prstGeom prst="roundRect">
            <a:avLst>
              <a:gd name="adj" fmla="val 10000"/>
            </a:avLst>
          </a:prstGeom>
          <a:solidFill>
            <a:srgbClr val="ECFBF8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87000" y="32004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577072" y="397764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aluno cursa várias turmas e uma turma tem vários alunos.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CONSTRUINDO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diagrama nasce em quatro passos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Desenhe as entidades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05456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2505456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os retângulos, com nomes no singular.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83864" y="214884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85032" y="23500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5" name="Text 13"/>
          <p:cNvSpPr/>
          <p:nvPr/>
        </p:nvSpPr>
        <p:spPr>
          <a:xfrm>
            <a:off x="3685032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61104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Ligue o relacionamento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11880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49240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9704" y="3209544"/>
            <a:ext cx="713232" cy="576072"/>
          </a:xfrm>
          <a:prstGeom prst="diamond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4489704" y="3209544"/>
            <a:ext cx="713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matr.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43400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02936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66744" y="48006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losango com o verbo que liga as duas.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27648" y="214884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8816" y="23500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8" name="Text 26"/>
          <p:cNvSpPr/>
          <p:nvPr/>
        </p:nvSpPr>
        <p:spPr>
          <a:xfrm>
            <a:off x="652881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04888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Marque a cardinalidade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55664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193024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3" name="Text 31"/>
          <p:cNvSpPr/>
          <p:nvPr/>
        </p:nvSpPr>
        <p:spPr>
          <a:xfrm>
            <a:off x="8193024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333488" y="3209544"/>
            <a:ext cx="713232" cy="576072"/>
          </a:xfrm>
          <a:prstGeom prst="diamond">
            <a:avLst/>
          </a:prstGeom>
          <a:solidFill>
            <a:srgbClr val="14B8A6"/>
          </a:solidFill>
          <a:ln/>
        </p:spPr>
      </p:sp>
      <p:sp>
        <p:nvSpPr>
          <p:cNvPr id="35" name="Text 33"/>
          <p:cNvSpPr/>
          <p:nvPr/>
        </p:nvSpPr>
        <p:spPr>
          <a:xfrm>
            <a:off x="7333488" y="3209544"/>
            <a:ext cx="713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matr.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187184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68312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27848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0528" y="48006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de cada lado: 1 ou N.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171432" y="2148840"/>
            <a:ext cx="2724912" cy="3566160"/>
          </a:xfrm>
          <a:prstGeom prst="roundRect">
            <a:avLst>
              <a:gd name="adj" fmla="val 3356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372600" y="23500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3" name="Text 41"/>
          <p:cNvSpPr/>
          <p:nvPr/>
        </p:nvSpPr>
        <p:spPr>
          <a:xfrm>
            <a:off x="937260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948672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Acrescente os atributos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299448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6" name="Text 44"/>
          <p:cNvSpPr/>
          <p:nvPr/>
        </p:nvSpPr>
        <p:spPr>
          <a:xfrm>
            <a:off x="9299448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036808" y="3291840"/>
            <a:ext cx="73152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8" name="Text 46"/>
          <p:cNvSpPr/>
          <p:nvPr/>
        </p:nvSpPr>
        <p:spPr>
          <a:xfrm>
            <a:off x="11036808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0177272" y="3209544"/>
            <a:ext cx="713232" cy="576072"/>
          </a:xfrm>
          <a:prstGeom prst="diamond">
            <a:avLst/>
          </a:prstGeom>
          <a:solidFill>
            <a:srgbClr val="14B8A6"/>
          </a:solidFill>
          <a:ln/>
        </p:spPr>
      </p:sp>
      <p:sp>
        <p:nvSpPr>
          <p:cNvPr id="50" name="Text 48"/>
          <p:cNvSpPr/>
          <p:nvPr/>
        </p:nvSpPr>
        <p:spPr>
          <a:xfrm>
            <a:off x="10177272" y="3209544"/>
            <a:ext cx="713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0030968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90504" y="3497580"/>
            <a:ext cx="146304" cy="0"/>
          </a:xfrm>
          <a:prstGeom prst="line">
            <a:avLst/>
          </a:prstGeom>
          <a:noFill/>
          <a:ln w="19050">
            <a:solidFill>
              <a:srgbClr val="0B55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12096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771632" y="2980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262872" y="4160520"/>
            <a:ext cx="841248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62872" y="416052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u="sng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9683496" y="3703320"/>
            <a:ext cx="0" cy="45720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5560" y="4160520"/>
            <a:ext cx="676656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195560" y="4160520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9848088" y="3703320"/>
            <a:ext cx="685800" cy="457200"/>
          </a:xfrm>
          <a:prstGeom prst="line">
            <a:avLst/>
          </a:prstGeom>
          <a:noFill/>
          <a:ln w="12700">
            <a:solidFill>
              <a:srgbClr val="0E74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54312" y="4800600"/>
            <a:ext cx="235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elipses, com a chave sublinhada.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EXEMPLO COMPLETO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Modelo conceitual da matrícula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88720" y="3246120"/>
            <a:ext cx="2468880" cy="9144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ALUNO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03920" y="3246120"/>
            <a:ext cx="2468880" cy="9144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92040" y="2971800"/>
            <a:ext cx="2377440" cy="1463040"/>
          </a:xfrm>
          <a:prstGeom prst="diamond">
            <a:avLst/>
          </a:prstGeom>
          <a:solidFill>
            <a:srgbClr val="14B8A6"/>
          </a:solidFill>
          <a:ln/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29718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3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703320"/>
            <a:ext cx="1234440" cy="0"/>
          </a:xfrm>
          <a:prstGeom prst="line">
            <a:avLst/>
          </a:prstGeom>
          <a:noFill/>
          <a:ln w="25400">
            <a:solidFill>
              <a:srgbClr val="0B55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3703320"/>
            <a:ext cx="1234440" cy="0"/>
          </a:xfrm>
          <a:prstGeom prst="line">
            <a:avLst/>
          </a:prstGeom>
          <a:noFill/>
          <a:ln w="25400">
            <a:solidFill>
              <a:srgbClr val="0B55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" y="210312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0120" y="2560320"/>
            <a:ext cx="1463040" cy="68580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05940" y="210312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0594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23160" y="2560320"/>
            <a:ext cx="0" cy="68580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8980" y="210312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8980" y="21031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86200" y="2560320"/>
            <a:ext cx="-1463040" cy="68580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58100" y="466344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8100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38360" y="4160520"/>
            <a:ext cx="-1463040" cy="50292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21140" y="466344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1140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738360" y="4160520"/>
            <a:ext cx="0" cy="50292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84180" y="4663440"/>
            <a:ext cx="123444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84180" y="4663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738360" y="4160520"/>
            <a:ext cx="1463040" cy="502920"/>
          </a:xfrm>
          <a:prstGeom prst="line">
            <a:avLst/>
          </a:prstGeom>
          <a:noFill/>
          <a:ln w="15875">
            <a:solidFill>
              <a:srgbClr val="0E74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71500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715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lê:  </a:t>
            </a:r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ALUNO se matricula em várias TURMAS, e uma TURMA tem vários ALUNOS" (N:N). Os atributos sublinhados (matricula e codigo) são as chaves.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ATENÇÃO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Quatro erros comuns ao modelar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5000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567178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Confundir atributo com entidade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11680" y="2743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"Idade" não é entidade: é uma característica do Aluno.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35000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567178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Nome de entidade no plural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635240" y="2743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ALUNO, não ALUNOS. A entidade representa um item do tipo.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36168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4578858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Esquecer a cardinalidade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01168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1 ou o N, o diagrama não diz qual é a regra do negócio.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361688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4578858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2062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8350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Não marcar a chave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635240" y="47548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chave, não há como diferenciar dois registros parecidos.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esses quatro pontos antes de entregar qualquer modelo evita a maior parte dos erros.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 · PRATICANDO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Leia o diagrama — e agora é a sua vez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ler um diagrama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6060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entidades (os retângulos).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319272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33192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os atributos de cada uma (as elipses).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032504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0325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o relacionamento (o losango).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745736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7457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cardinalidade (1:1, 1:N ou N:N).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CFBF8"/>
          </a:solidFill>
          <a:ln w="12700">
            <a:solidFill>
              <a:srgbClr val="CFE6E2"/>
            </a:solidFill>
            <a:prstDash val="solid"/>
          </a:ln>
          <a:effectLst>
            <a:outerShdw sx="100000" sy="100000" kx="0" ky="0" algn="bl" rotWithShape="0" blurRad="88900" dist="38100" dir="5400000">
              <a:srgbClr val="0A3334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21488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0" y="2354580"/>
            <a:ext cx="411480" cy="4114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98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2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Sua vez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537960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biblioteca empresta livros aos leitores."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537960" y="342900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o método dos 4 passos nessa frase.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são as entidades e o relacionamento?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atributos guardaríamos de cada uma?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cardinalidade? Justifique.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3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C464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você já sabe agora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677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240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banco de dados e onde ele aparece no dia a dia.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163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788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dado e informação.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6499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3337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SGBD, o que ele faz e quais são os principais.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1363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3886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símbolos do diagrama e o método para modelar em 4 passos.</a:t>
            </a:r>
            <a:endParaRPr lang="en-US" sz="16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62272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Entidade, atributo, relacionamento e cardinalidade.</a:t>
            </a:r>
            <a:endParaRPr lang="en-US" sz="1600" dirty="0"/>
          </a:p>
        </p:txBody>
      </p:sp>
      <p:sp>
        <p:nvSpPr>
          <p:cNvPr id="15" name="Shape 8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0E7490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349240"/>
            <a:ext cx="502920" cy="5029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920240" y="507492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 </a:t>
            </a:r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Módulo 02: Modelagem de Dados (entidades, relacionamentos e o brModelo).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— Módulo 01</dc:title>
  <dc:subject>PptxGenJS Presentation</dc:subject>
  <dc:creator>Francisco Ericson</dc:creator>
  <cp:lastModifiedBy>Francisco Ericson</cp:lastModifiedBy>
  <cp:revision>1</cp:revision>
  <dcterms:created xsi:type="dcterms:W3CDTF">2026-08-18T13:10:47Z</dcterms:created>
  <dcterms:modified xsi:type="dcterms:W3CDTF">2026-08-18T13:10:47Z</dcterms:modified>
</cp:coreProperties>
</file>