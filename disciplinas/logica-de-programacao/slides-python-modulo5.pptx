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programa passa a tomar decisões. Base: os operadores do Módulo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módulo em que o programa deixa de ser uma lista de passos e passa a decidir.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Retome o fluxograma do Módulo 1: o losango com duas saídas é exatamente isto.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Escreva no quadro destacando os dois-pontos e o recuo. São os erros número 1 e 2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recuo é o que separa o que é condicional do que roda sempre. Insista nesse ponto.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com o slide anterior: agora nenhum caso fica sem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Reaproveite o exercício do Módulo 1: mesma lógica, agora executando de verdade.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com nota = 7: falha no primeiro if, acerta no primeiro elif, ignora o resto.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erro é sutil e muito comum. Vale um exercício inteiro só sobre ordenar condições.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alternativa: if idade &gt;= 18 and tem_documento. Discuta qual fica mais 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Confirme a versão do Python do laboratório antes desta aula: python3 --version.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cada erro ao vivo. A mensagem do Python aponta a linha: ensine a lê-la.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Recapitulação. Agora o programa decide sozinho o que fazer.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Ponte: no Módulo 6 o programa passa a repetir tarefas automaticamente.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4292F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777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 DO ESTADO DO CEARÁ  •  SEDUC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Profissional  •  Eixo Informação e Comunicação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Python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005840" y="3977640"/>
            <a:ext cx="2011680" cy="0"/>
          </a:xfrm>
          <a:prstGeom prst="line">
            <a:avLst/>
          </a:prstGeom>
          <a:noFill/>
          <a:ln w="38100">
            <a:solidFill>
              <a:srgbClr val="1F23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2062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ESTRUTURAS DE CONDIÇÃO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46177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51 a 65  •  Lógica de Programação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5623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E.E.E.P. Lúcia Helena Viana Ribeiro — Horizonte/CE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Francisco Ericson Cornélio da Costa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deste módulo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57984"/>
            <a:ext cx="457200" cy="457200"/>
          </a:xfrm>
          <a:prstGeom prst="ellipse">
            <a:avLst/>
          </a:prstGeom>
          <a:solidFill>
            <a:srgbClr val="24292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57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25880" y="196596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estrutura de condição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92640" y="1965960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118104"/>
            <a:ext cx="457200" cy="457200"/>
          </a:xfrm>
          <a:prstGeom prst="ellipse">
            <a:avLst/>
          </a:prstGeom>
          <a:solidFill>
            <a:srgbClr val="24292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18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325880" y="292608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condicional if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92640" y="2926080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54 e 55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078224"/>
            <a:ext cx="457200" cy="457200"/>
          </a:xfrm>
          <a:prstGeom prst="ellipse">
            <a:avLst/>
          </a:prstGeom>
          <a:solidFill>
            <a:srgbClr val="24292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78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25880" y="388620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else: os dois caminhos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92640" y="3886200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59 e 60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5038344"/>
            <a:ext cx="457200" cy="457200"/>
          </a:xfrm>
          <a:prstGeom prst="ellipse">
            <a:avLst/>
          </a:prstGeom>
          <a:solidFill>
            <a:srgbClr val="24292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038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325880" y="484632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elif: vários caminhos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92640" y="4846320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61 e 62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806440"/>
            <a:ext cx="11064240" cy="841248"/>
          </a:xfrm>
          <a:prstGeom prst="roundRect">
            <a:avLst>
              <a:gd name="adj" fmla="val 543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5998464"/>
            <a:ext cx="457200" cy="457200"/>
          </a:xfrm>
          <a:prstGeom prst="ellipse">
            <a:avLst/>
          </a:prstGeom>
          <a:solidFill>
            <a:srgbClr val="24292F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998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325880" y="580644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aninhadas e escolha-caso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92640" y="5806440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56, 63 a 65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2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2468880" y="2331720"/>
            <a:ext cx="0" cy="1463040"/>
          </a:xfrm>
          <a:prstGeom prst="line">
            <a:avLst/>
          </a:prstGeom>
          <a:noFill/>
          <a:ln w="25400">
            <a:solidFill>
              <a:srgbClr val="6E77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2377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834640" y="2761488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estrutura de condição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2834640" y="38404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51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 escolhe um caminho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agora todo programa executava todas as linhas, de cima para baixo. Com a estrutura de condição, algumas linhas só rodam se uma condição for verdadeira.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2834640"/>
            <a:ext cx="2743200" cy="685800"/>
          </a:xfrm>
          <a:prstGeom prst="roundRect">
            <a:avLst>
              <a:gd name="adj" fmla="val 6667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8346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condição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40480" y="3182112"/>
            <a:ext cx="914400" cy="0"/>
          </a:xfrm>
          <a:prstGeom prst="line">
            <a:avLst/>
          </a:prstGeom>
          <a:noFill/>
          <a:ln w="25400">
            <a:solidFill>
              <a:srgbClr val="656D7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3182112"/>
            <a:ext cx="0" cy="914400"/>
          </a:xfrm>
          <a:prstGeom prst="line">
            <a:avLst/>
          </a:prstGeom>
          <a:noFill/>
          <a:ln w="25400">
            <a:solidFill>
              <a:srgbClr val="656D7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98080" y="3182112"/>
            <a:ext cx="914400" cy="0"/>
          </a:xfrm>
          <a:prstGeom prst="line">
            <a:avLst/>
          </a:prstGeom>
          <a:noFill/>
          <a:ln w="25400">
            <a:solidFill>
              <a:srgbClr val="656D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0" y="3182112"/>
            <a:ext cx="0" cy="914400"/>
          </a:xfrm>
          <a:prstGeom prst="line">
            <a:avLst/>
          </a:prstGeom>
          <a:noFill/>
          <a:ln w="25400">
            <a:solidFill>
              <a:srgbClr val="656D76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108960" y="3291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0" y="3291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F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51760" y="4206240"/>
            <a:ext cx="2377440" cy="731520"/>
          </a:xfrm>
          <a:prstGeom prst="roundRect">
            <a:avLst>
              <a:gd name="adj" fmla="val 6250"/>
            </a:avLst>
          </a:prstGeom>
          <a:solidFill>
            <a:srgbClr val="24292F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4206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uma coisa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23760" y="4206240"/>
            <a:ext cx="2377440" cy="731520"/>
          </a:xfrm>
          <a:prstGeom prst="roundRect">
            <a:avLst>
              <a:gd name="adj" fmla="val 6250"/>
            </a:avLst>
          </a:prstGeom>
          <a:solidFill>
            <a:srgbClr val="24292F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4206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outra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24292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49554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RECONHECEU?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5843016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losango do fluxograma que você desenhou no Módulo 1.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2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2468880" y="2331720"/>
            <a:ext cx="0" cy="1463040"/>
          </a:xfrm>
          <a:prstGeom prst="line">
            <a:avLst/>
          </a:prstGeom>
          <a:noFill/>
          <a:ln w="25400">
            <a:solidFill>
              <a:srgbClr val="6E77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2377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834640" y="2761488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condicional if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2834640" y="38404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54 e 55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do if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6675120" cy="1828800"/>
          </a:xfrm>
          <a:prstGeom prst="roundRect">
            <a:avLst>
              <a:gd name="adj" fmla="val 2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47672"/>
            <a:ext cx="6272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geral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62727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condição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instrução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só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roda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0" y="196596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palavra if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condição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Dois-pontos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6675120" cy="1828800"/>
          </a:xfrm>
          <a:prstGeom prst="roundRect">
            <a:avLst>
              <a:gd name="adj" fmla="val 2000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05072"/>
            <a:ext cx="6272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4325112"/>
            <a:ext cx="62727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"Maior de idade"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778240" y="3886200"/>
            <a:ext cx="2834640" cy="1828800"/>
          </a:xfrm>
          <a:prstGeom prst="roundRect">
            <a:avLst>
              <a:gd name="adj" fmla="val 2000"/>
            </a:avLst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9408" y="4005072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79408" y="4325112"/>
            <a:ext cx="243230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Maior de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8978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24292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604418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REGRAS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6391656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DOIS-PONTOS e o RECUO não são opcionais: sem eles o Python dá erro.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condição é falsa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486400" cy="2560320"/>
          </a:xfrm>
          <a:prstGeom prst="roundRect">
            <a:avLst>
              <a:gd name="adj" fmla="val 1429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47672"/>
            <a:ext cx="5084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508406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"Maior de idade"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"Fim do programa"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212080" cy="2560320"/>
          </a:xfrm>
          <a:prstGeom prst="roundRect">
            <a:avLst>
              <a:gd name="adj" fmla="val 1429"/>
            </a:avLst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947672"/>
            <a:ext cx="4809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01968" y="2267712"/>
            <a:ext cx="480974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Fim do programa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recuada foi PULADA, porque a condição deu False.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última linha não está recuada: ela roda sempre.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2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2468880" y="2331720"/>
            <a:ext cx="0" cy="1463040"/>
          </a:xfrm>
          <a:prstGeom prst="line">
            <a:avLst/>
          </a:prstGeom>
          <a:noFill/>
          <a:ln w="25400">
            <a:solidFill>
              <a:srgbClr val="6E77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2377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834640" y="2761488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else: os dois caminhos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2834640" y="38404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59 e 60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Acrescentando o else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6675120" cy="2011680"/>
          </a:xfrm>
          <a:prstGeom prst="roundRect">
            <a:avLst>
              <a:gd name="adj" fmla="val 181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47672"/>
            <a:ext cx="6272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geral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6272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condição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caminho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quando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caminho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quando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é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78240" y="201168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não tem condição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leva dois-pontos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dos dois SEMPRE roda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6675120" cy="1920240"/>
          </a:xfrm>
          <a:prstGeom prst="roundRect">
            <a:avLst>
              <a:gd name="adj" fmla="val 1905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187952"/>
            <a:ext cx="6272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4507992"/>
            <a:ext cx="6272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"Pode votar"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"Ainda não vota"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778240" y="4069080"/>
            <a:ext cx="2834640" cy="1920240"/>
          </a:xfrm>
          <a:prstGeom prst="roundRect">
            <a:avLst>
              <a:gd name="adj" fmla="val 1905"/>
            </a:avLst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9408" y="4187952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79408" y="4507992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Ainda não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vota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aprovado ou reprovado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6675120" cy="2743200"/>
          </a:xfrm>
          <a:prstGeom prst="roundRect">
            <a:avLst>
              <a:gd name="adj" fmla="val 133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47672"/>
            <a:ext cx="6272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627278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nota1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nota2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nota1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nota2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"Aprovado"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"Reprovado"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778240" y="1828800"/>
            <a:ext cx="2834640" cy="1188720"/>
          </a:xfrm>
          <a:prstGeom prst="roundRect">
            <a:avLst>
              <a:gd name="adj" fmla="val 3077"/>
            </a:avLst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79408" y="1947672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79408" y="2267712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Aprovado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0" y="32004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vale 7.0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 &gt;= 7 é True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2429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90118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IMPORTA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248656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cálculo vem ANTES da decisão: não dá para decidir sem ter a média.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2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2468880" y="2331720"/>
            <a:ext cx="0" cy="1463040"/>
          </a:xfrm>
          <a:prstGeom prst="line">
            <a:avLst/>
          </a:prstGeom>
          <a:noFill/>
          <a:ln w="25400">
            <a:solidFill>
              <a:srgbClr val="6E77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2377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834640" y="2761488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elif: vários caminhos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2834640" y="38404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61 e 62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há mais de duas opções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6675120" cy="3291840"/>
          </a:xfrm>
          <a:prstGeom prst="roundRect">
            <a:avLst>
              <a:gd name="adj" fmla="val 111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47672"/>
            <a:ext cx="6272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627278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"Ótimo"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"Bom"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"Regular"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"Insuficiente"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0" y="1828800"/>
            <a:ext cx="2834640" cy="1097280"/>
          </a:xfrm>
          <a:prstGeom prst="roundRect">
            <a:avLst>
              <a:gd name="adj" fmla="val 3333"/>
            </a:avLst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79408" y="1947672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79408" y="2267712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0" y="310896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= senão, se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ter vários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else é opcional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30352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429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44982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797296"/>
            <a:ext cx="10332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Python testa de cima para baixo e para no PRIMEIRO que der True.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dos testes importa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486400" cy="2468880"/>
          </a:xfrm>
          <a:prstGeom prst="roundRect">
            <a:avLst>
              <a:gd name="adj" fmla="val 1481"/>
            </a:avLst>
          </a:prstGeom>
          <a:solidFill>
            <a:srgbClr val="F6F8FA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47672"/>
            <a:ext cx="5084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errada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508406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"Regular"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"Ótimo"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5212080" cy="2468880"/>
          </a:xfrm>
          <a:prstGeom prst="roundRect">
            <a:avLst>
              <a:gd name="adj" fmla="val 1481"/>
            </a:avLst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947672"/>
            <a:ext cx="4809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(errada)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01968" y="2267712"/>
            <a:ext cx="48097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nota 10 deveria aparecer Ótimo, mas o primeiro teste já deu True e o resto foi ignorado.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429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26694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614416"/>
            <a:ext cx="10332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Coloque sempre a condição mais exigente primeiro.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42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7000" dirty="0"/>
          </a:p>
        </p:txBody>
      </p:sp>
      <p:sp>
        <p:nvSpPr>
          <p:cNvPr id="3" name="Shape 1"/>
          <p:cNvSpPr/>
          <p:nvPr/>
        </p:nvSpPr>
        <p:spPr>
          <a:xfrm>
            <a:off x="2468880" y="2331720"/>
            <a:ext cx="0" cy="1463040"/>
          </a:xfrm>
          <a:prstGeom prst="line">
            <a:avLst/>
          </a:prstGeom>
          <a:noFill/>
          <a:ln w="25400">
            <a:solidFill>
              <a:srgbClr val="6E77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2377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834640" y="2761488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aninhadas e escolha-caso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2834640" y="38404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56, 63 a 65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 dentro de condição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6675120" cy="3291840"/>
          </a:xfrm>
          <a:prstGeom prst="roundRect">
            <a:avLst>
              <a:gd name="adj" fmla="val 111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947672"/>
            <a:ext cx="6272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6272784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tem_documento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tem_documento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"Pode entrar"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"Falta documento"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"Menor de idade"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0" y="1828800"/>
            <a:ext cx="2834640" cy="1280160"/>
          </a:xfrm>
          <a:prstGeom prst="roundRect">
            <a:avLst>
              <a:gd name="adj" fmla="val 2857"/>
            </a:avLst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79408" y="1947672"/>
            <a:ext cx="2432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79408" y="2267712"/>
            <a:ext cx="243230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Falta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78240" y="329184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nível recua mais</a:t>
            </a:r>
            <a:endParaRPr lang="en-US" sz="135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recuo mostra a quem pertence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30352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2429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44982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797296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níveis deixam o código confuso: às vezes um and resolve melhor.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escolha-caso em Python: match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comparamos uma variável com vários valores fixos, o match deixa o código mais limpo.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486400" cy="3200400"/>
          </a:xfrm>
          <a:prstGeom prst="roundRect">
            <a:avLst>
              <a:gd name="adj" fmla="val 114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96312"/>
            <a:ext cx="5084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match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2816352"/>
            <a:ext cx="508406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"Segunda"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"Quarta"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"Outro dia"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2377440"/>
            <a:ext cx="5212080" cy="3200400"/>
          </a:xfrm>
          <a:prstGeom prst="roundRect">
            <a:avLst>
              <a:gd name="adj" fmla="val 1143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2496312"/>
            <a:ext cx="4809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com elif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01968" y="2816352"/>
            <a:ext cx="48097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"Segunda"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"Quarta"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250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"Outro dia"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7150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24292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861304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À VERSÃO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6208776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match existe a partir do Python 3.10. Em versões anteriores, use elif.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mais comuns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11064240" cy="841248"/>
          </a:xfrm>
          <a:prstGeom prst="roundRect">
            <a:avLst>
              <a:gd name="adj" fmla="val 4348"/>
            </a:avLst>
          </a:prstGeom>
          <a:solidFill>
            <a:srgbClr val="F6F8FA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20240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idade &gt;= 18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77840" y="2340864"/>
            <a:ext cx="457200" cy="0"/>
          </a:xfrm>
          <a:prstGeom prst="line">
            <a:avLst/>
          </a:prstGeom>
          <a:noFill/>
          <a:ln w="25400">
            <a:solidFill>
              <a:srgbClr val="656D7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217920" y="1920240"/>
            <a:ext cx="5029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faltaram os dois-pontos no fim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64240" cy="841248"/>
          </a:xfrm>
          <a:prstGeom prst="roundRect">
            <a:avLst>
              <a:gd name="adj" fmla="val 4348"/>
            </a:avLst>
          </a:prstGeom>
          <a:solidFill>
            <a:srgbClr val="F6F8FA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26080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= 5: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577840" y="3346704"/>
            <a:ext cx="457200" cy="0"/>
          </a:xfrm>
          <a:prstGeom prst="line">
            <a:avLst/>
          </a:prstGeom>
          <a:noFill/>
          <a:ln w="25400">
            <a:solidFill>
              <a:srgbClr val="656D76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217920" y="2926080"/>
            <a:ext cx="5029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usou = em vez de ==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11064240" cy="841248"/>
          </a:xfrm>
          <a:prstGeom prst="roundRect">
            <a:avLst>
              <a:gd name="adj" fmla="val 4348"/>
            </a:avLst>
          </a:prstGeom>
          <a:solidFill>
            <a:srgbClr val="F6F8FA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931920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 recuo após o if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577840" y="4352544"/>
            <a:ext cx="457200" cy="0"/>
          </a:xfrm>
          <a:prstGeom prst="line">
            <a:avLst/>
          </a:prstGeom>
          <a:noFill/>
          <a:ln w="25400">
            <a:solidFill>
              <a:srgbClr val="656D76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217920" y="3931920"/>
            <a:ext cx="5029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Python exige indentação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11064240" cy="841248"/>
          </a:xfrm>
          <a:prstGeom prst="roundRect">
            <a:avLst>
              <a:gd name="adj" fmla="val 4348"/>
            </a:avLst>
          </a:prstGeom>
          <a:solidFill>
            <a:srgbClr val="F6F8FA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937760"/>
            <a:ext cx="45720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22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sem if antes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577840" y="5358384"/>
            <a:ext cx="457200" cy="0"/>
          </a:xfrm>
          <a:prstGeom prst="line">
            <a:avLst/>
          </a:prstGeom>
          <a:noFill/>
          <a:ln w="25400">
            <a:solidFill>
              <a:srgbClr val="656D76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217920" y="4937760"/>
            <a:ext cx="5029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elif só existe depois de um if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Dois-pontos e recuo: as duas causas de quase todo erro neste módulo.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91440" cy="146304"/>
          </a:xfrm>
          <a:prstGeom prst="rect">
            <a:avLst/>
          </a:prstGeom>
          <a:solidFill>
            <a:srgbClr val="656D7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058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5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aprendeu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463040" cy="0"/>
          </a:xfrm>
          <a:prstGeom prst="line">
            <a:avLst/>
          </a:prstGeom>
          <a:noFill/>
          <a:ln w="31750">
            <a:solidFill>
              <a:srgbClr val="1F23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5440680" cy="1280160"/>
          </a:xfrm>
          <a:prstGeom prst="roundRect">
            <a:avLst>
              <a:gd name="adj" fmla="val 357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039112"/>
            <a:ext cx="5001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" y="2514600"/>
            <a:ext cx="50017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um bloco só quando a condição é True.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440680" cy="1280160"/>
          </a:xfrm>
          <a:prstGeom prst="roundRect">
            <a:avLst>
              <a:gd name="adj" fmla="val 357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1656" y="2039112"/>
            <a:ext cx="5001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91656" y="2514600"/>
            <a:ext cx="50017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alternativo, sem condição própria.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440680" cy="1280160"/>
          </a:xfrm>
          <a:prstGeom prst="roundRect">
            <a:avLst>
              <a:gd name="adj" fmla="val 357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3456432"/>
            <a:ext cx="5001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8096" y="3931920"/>
            <a:ext cx="50017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caminhos testados de cima para baixo.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72200" y="3291840"/>
            <a:ext cx="5440680" cy="1280160"/>
          </a:xfrm>
          <a:prstGeom prst="roundRect">
            <a:avLst>
              <a:gd name="adj" fmla="val 357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3456432"/>
            <a:ext cx="5001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Aninhamento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1656" y="3931920"/>
            <a:ext cx="50017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 dentro de condição, com mais recuo.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5440680" cy="1280160"/>
          </a:xfrm>
          <a:prstGeom prst="roundRect">
            <a:avLst>
              <a:gd name="adj" fmla="val 357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4873752"/>
            <a:ext cx="5001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8096" y="5349240"/>
            <a:ext cx="50017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ao elif, a partir do Python 3.10.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72200" y="4709160"/>
            <a:ext cx="5440680" cy="1280160"/>
          </a:xfrm>
          <a:prstGeom prst="roundRect">
            <a:avLst>
              <a:gd name="adj" fmla="val 357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1656" y="4873752"/>
            <a:ext cx="5001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91656" y="5349240"/>
            <a:ext cx="50017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Dois-pontos no fim e recuo no bloco.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42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programa agora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decisões.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548640" y="4114800"/>
            <a:ext cx="2011680" cy="0"/>
          </a:xfrm>
          <a:prstGeom prst="line">
            <a:avLst/>
          </a:prstGeom>
          <a:noFill/>
          <a:ln w="38100">
            <a:solidFill>
              <a:srgbClr val="6E77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19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Módulo 6 — Estruturas de Repetição (Aulas 66 a 75)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Python  •  E.E.E.P. Lúcia Helena Viana Ribeiro — Horizonte/CE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— Módulo 5</dc:title>
  <dc:subject>PptxGenJS Presentation</dc:subject>
  <dc:creator>Prof. Francisco Ericson C. da Costa</dc:creator>
  <cp:lastModifiedBy>Prof. Francisco Ericson C. da Costa</cp:lastModifiedBy>
  <cp:revision>1</cp:revision>
  <dcterms:created xsi:type="dcterms:W3CDTF">2026-09-10T12:38:29Z</dcterms:created>
  <dcterms:modified xsi:type="dcterms:W3CDTF">2026-09-10T12:38:29Z</dcterms:modified>
</cp:coreProperties>
</file>