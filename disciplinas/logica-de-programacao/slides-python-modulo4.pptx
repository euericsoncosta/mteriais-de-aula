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que prepara a estrutura de condição: tudo aqui produz True ou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Aviso importante: tudo neste módulo serve para alimentar o if, que vem no Módulo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o tipo bool visto no Módulo 2. A comparação é a forma mais comum de gerar um bool.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confusão entre = e == é o erro mais comum deste módulo. Volte nela várias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à turma que responda antes de rodar. Depois execute e confira uma a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gancho: é por isso que senhas diferenciam maiúsculas. Conecte com o mundo real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explícita com a tabela verdade da Aula 2. Eles já sabem a lógica; muda só o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para entrar no cinema precisa de ingresso E documento. Faltou um, não entra.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pode pagar com dinheiro OU cartão. Ter um dos dois já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 com frases negativas: not nao_chovendo confunde. Prefira nomes positivos.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cálculo em duas etapas no quadro: primeiro as comparações, depois o and/or.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cobre a decoreba da ordem. Ensine a usar parênteses: é o que profissionais fazem.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exemplo será reaproveitado no Módulo 5, quando o resultado alimentar um 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segundo erro é o mais sutil: em matemática escrevemos 18 &lt; x &lt; 30, em Python precisa repetir.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Recapitulação. Eles já sabem produzir True e False; falta usá-los para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Ponte: no Módulo 5 essas respostas True/False passam a comandar o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4292F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777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 DO ESTADO DO CEARÁ  •  SEDUC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Profissional  •  Eixo Informação e Comunicação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Python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005840" y="3977640"/>
            <a:ext cx="2011680" cy="0"/>
          </a:xfrm>
          <a:prstGeom prst="line">
            <a:avLst/>
          </a:prstGeom>
          <a:noFill/>
          <a:ln w="38100">
            <a:solidFill>
              <a:srgbClr val="1F23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062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— OPERADORES RELACIONAIS E LÓGICOS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617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41 a 50  •  Lógica de Programação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E.E.E.P. Lúcia Helena Viana Ribeiro — Horizonte/CE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Francisco Ericson Cornélio da Costa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deste módulo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57984"/>
            <a:ext cx="457200" cy="457200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25880" y="196596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relacionais: comparando valores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92640" y="196596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43 e 48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118104"/>
            <a:ext cx="457200" cy="457200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25880" y="292608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lógicos: and, or, not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92640" y="292608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41, 42, 46 e 47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078224"/>
            <a:ext cx="457200" cy="457200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25880" y="388620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 lógicas combinadas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92640" y="388620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44, 45, 49 e 50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2468880" y="2331720"/>
            <a:ext cx="0" cy="1463040"/>
          </a:xfrm>
          <a:prstGeom prst="line">
            <a:avLst/>
          </a:prstGeom>
          <a:noFill/>
          <a:ln w="25400">
            <a:solidFill>
              <a:srgbClr val="6E77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377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34640" y="2761488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relacionais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834640" y="38404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43 e 48 — Comparando valores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é perguntar ao computador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operador relacional compara dois valores e devolve sempre uma resposta: True (verdadeiro) ou False (falso).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486400" cy="173736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770632"/>
            <a:ext cx="5084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3090672"/>
            <a:ext cx="50840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5212080" cy="1737360"/>
          </a:xfrm>
          <a:prstGeom prst="roundRect">
            <a:avLst>
              <a:gd name="adj" fmla="val 2105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77063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01968" y="3090672"/>
            <a:ext cx="4809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2429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0974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ISTO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157216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comparação vira um valor do tipo bool: ou True, ou False.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seis operadores relacionais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926080"/>
                <a:gridCol w="26517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verifica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que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 &gt; 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que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 &lt; 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&gt;=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ou igual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 &gt;= 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&lt;=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ou igual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 &lt;= 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==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 == 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!=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diferente 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 != 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778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24292F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72414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CONFUNDA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6071616"/>
            <a:ext cx="103327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=  guarda um valor.  O sinal ==  compara dois valores.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na prática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1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47672"/>
            <a:ext cx="5084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5084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212080" cy="2743200"/>
          </a:xfrm>
          <a:prstGeom prst="roundRect">
            <a:avLst>
              <a:gd name="adj" fmla="val 1333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94767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01968" y="2267712"/>
            <a:ext cx="480974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é uma pergunta independente ao computador.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é sempre True ou False, nunca outra coisa.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textos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00" cy="2560320"/>
          </a:xfrm>
          <a:prstGeom prst="roundRect">
            <a:avLst>
              <a:gd name="adj" fmla="val 142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47672"/>
            <a:ext cx="5084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508406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senha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"abc123"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senha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"abc123"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senha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"ABC123"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212080" cy="2560320"/>
          </a:xfrm>
          <a:prstGeom prst="roundRect">
            <a:avLst>
              <a:gd name="adj" fmla="val 1429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94767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01968" y="2267712"/>
            <a:ext cx="480974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24292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71830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065776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comparar textos, maiúsculas e minúsculas são diferentes.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2468880" y="2331720"/>
            <a:ext cx="0" cy="1463040"/>
          </a:xfrm>
          <a:prstGeom prst="line">
            <a:avLst/>
          </a:prstGeom>
          <a:noFill/>
          <a:ln w="25400">
            <a:solidFill>
              <a:srgbClr val="6E77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377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34640" y="2761488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lógicos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834640" y="38404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41, 42, 46 e 47 — and, or, not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condições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operadores lógicos juntam duas ou mais comparações em uma única resposta.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474720" cy="2286000"/>
          </a:xfrm>
          <a:prstGeom prst="roundRect">
            <a:avLst>
              <a:gd name="adj" fmla="val 2000"/>
            </a:avLst>
          </a:prstGeom>
          <a:solidFill>
            <a:srgbClr val="24292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é True quando as DUAS partes são True.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2560320"/>
            <a:ext cx="3474720" cy="22860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3520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True quando PELO MENOS UMA parte é True.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0" y="2560320"/>
            <a:ext cx="3474720" cy="22860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0" y="3520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 o resultado: True vira False.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4292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22122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RECONHECEU?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568696"/>
            <a:ext cx="10332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os mesmos NÃO, E, OU que você viu no Módulo 1 — agora escritos em Python.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and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7432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and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1828800"/>
            <a:ext cx="3749040" cy="2651760"/>
          </a:xfrm>
          <a:prstGeom prst="roundRect">
            <a:avLst>
              <a:gd name="adj" fmla="val 137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65008" y="1947672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65008" y="2267712"/>
            <a:ext cx="33467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4617720"/>
            <a:ext cx="3749040" cy="822960"/>
          </a:xfrm>
          <a:prstGeom prst="roundRect">
            <a:avLst>
              <a:gd name="adj" fmla="val 4444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65008" y="4736592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65008" y="505663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617720"/>
            <a:ext cx="7132320" cy="822960"/>
          </a:xfrm>
          <a:prstGeom prst="roundRect">
            <a:avLst>
              <a:gd name="adj" fmla="val 6667"/>
            </a:avLst>
          </a:prstGeom>
          <a:solidFill>
            <a:srgbClr val="24292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7640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AND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51114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UMA parte falsa para o resultado ser False.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or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7432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or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1828800"/>
            <a:ext cx="3749040" cy="2651760"/>
          </a:xfrm>
          <a:prstGeom prst="roundRect">
            <a:avLst>
              <a:gd name="adj" fmla="val 137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65008" y="1947672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65008" y="2267712"/>
            <a:ext cx="33467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recuperou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recuperou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4617720"/>
            <a:ext cx="3749040" cy="822960"/>
          </a:xfrm>
          <a:prstGeom prst="roundRect">
            <a:avLst>
              <a:gd name="adj" fmla="val 4444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65008" y="4736592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65008" y="505663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617720"/>
            <a:ext cx="7132320" cy="822960"/>
          </a:xfrm>
          <a:prstGeom prst="roundRect">
            <a:avLst>
              <a:gd name="adj" fmla="val 6667"/>
            </a:avLst>
          </a:prstGeom>
          <a:solidFill>
            <a:srgbClr val="24292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7640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51114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UMA parte verdadeira para o resultado ser True.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not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828800"/>
            <a:ext cx="5212080" cy="2194560"/>
          </a:xfrm>
          <a:prstGeom prst="roundRect">
            <a:avLst>
              <a:gd name="adj" fmla="val 166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1968" y="194767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01968" y="2267712"/>
            <a:ext cx="4809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chovendo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chovendo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0" y="420624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01968" y="432511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01968" y="4645152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5577840" cy="1097280"/>
          </a:xfrm>
          <a:prstGeom prst="roundRect">
            <a:avLst>
              <a:gd name="adj" fmla="val 5000"/>
            </a:avLst>
          </a:prstGeom>
          <a:solidFill>
            <a:srgbClr val="24292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1696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NOT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451713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not simplesmente inverte o valor lógico.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2468880" y="2331720"/>
            <a:ext cx="0" cy="1463040"/>
          </a:xfrm>
          <a:prstGeom prst="line">
            <a:avLst/>
          </a:prstGeom>
          <a:noFill/>
          <a:ln w="25400">
            <a:solidFill>
              <a:srgbClr val="6E77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377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34640" y="2761488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 lógicas combinadas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834640" y="38404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44, 45, 49 e 50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comparações e operadores lógicos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675120" cy="2743200"/>
          </a:xfrm>
          <a:prstGeom prst="roundRect">
            <a:avLst>
              <a:gd name="adj" fmla="val 1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47672"/>
            <a:ext cx="6272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627278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778240" y="1828800"/>
            <a:ext cx="2834640" cy="2743200"/>
          </a:xfrm>
          <a:prstGeom prst="roundRect">
            <a:avLst>
              <a:gd name="adj" fmla="val 1333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79408" y="194767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79408" y="2267712"/>
            <a:ext cx="243230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o Python resolve cada comparação; depois aplica o operador lógico.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primeira linha: False and True → False.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de avaliação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há vários operadores, o Python segue esta ordem: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24292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Comparações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&lt; &gt;= &lt;= == !=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46888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3429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46888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3429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15400" y="246888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5256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52560" y="3429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11064240" cy="1234440"/>
          </a:xfrm>
          <a:prstGeom prst="roundRect">
            <a:avLst>
              <a:gd name="adj" fmla="val 296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416552"/>
            <a:ext cx="10661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use parênteses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4736592"/>
            <a:ext cx="106619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parênteses para deixar claro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6692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24292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81558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616305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Parênteses nunca atrapalham e tornam a expressão mais fácil de ler.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pode tirar a carteira se tiver 18 anos ou mais E possuir documento.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6675120" cy="2834640"/>
          </a:xfrm>
          <a:prstGeom prst="roundRect">
            <a:avLst>
              <a:gd name="adj" fmla="val 129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96312"/>
            <a:ext cx="6272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816352"/>
            <a:ext cx="627278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tem_documento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tem_documento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"Pode tirar a carteira?"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778240" y="2377440"/>
            <a:ext cx="2834640" cy="1463040"/>
          </a:xfrm>
          <a:prstGeom prst="roundRect">
            <a:avLst>
              <a:gd name="adj" fmla="val 2500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79408" y="249631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79408" y="2816352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Pode tirar 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carteira? True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0" y="402336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virou uma variável.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guarda um bool.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24292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58698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93445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o resultado em uma variável deixa o código mais legível.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mais comuns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11064240" cy="841248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= 18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2340864"/>
            <a:ext cx="45720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217920" y="1920240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usou = em vez de == na comparação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841248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2608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&gt; 18 and &lt; 30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77840" y="3346704"/>
            <a:ext cx="45720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217920" y="2926080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faltou repetir a variável: idade &lt; 30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64240" cy="841248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3192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&gt;= 18 AND tem_doc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577840" y="4352544"/>
            <a:ext cx="45720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217920" y="3931920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em maiúsculas: o certo é and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1064240" cy="841248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93776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== "8"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77840" y="5358384"/>
            <a:ext cx="45720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217920" y="4937760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comparou número com texto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Python, and, or e not são sempre em minúsculas.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aprendeu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03911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51460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&lt; &gt;= &lt;= == !=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656" y="203911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91656" y="251460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comparação devolve True ou False.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45643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8096" y="393192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 e not, sempre em minúsculas.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329184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345643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verdade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1656" y="393192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do Módulo 1, agora em código.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87375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" y="534924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Comparações, depois not, and e or.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72200" y="470916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487375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Parênteses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91656" y="534924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Deixam a expressão clara e sem dúvida.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você sabe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perguntas ao computador.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0"/>
            <a:ext cx="2011680" cy="0"/>
          </a:xfrm>
          <a:prstGeom prst="line">
            <a:avLst/>
          </a:prstGeom>
          <a:noFill/>
          <a:ln w="38100">
            <a:solidFill>
              <a:srgbClr val="6E77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Módulo 5 — Estruturas de Condição (Aulas 51 a 65)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  •  E.E.E.P. Lúcia Helena Viana Ribeiro — Horizonte/CE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— Módulo 4</dc:title>
  <dc:subject>PptxGenJS Presentation</dc:subject>
  <dc:creator>Prof. Francisco Ericson C. da Costa</dc:creator>
  <cp:lastModifiedBy>Prof. Francisco Ericson C. da Costa</cp:lastModifiedBy>
  <cp:revision>1</cp:revision>
  <dcterms:created xsi:type="dcterms:W3CDTF">2026-09-10T12:38:29Z</dcterms:created>
  <dcterms:modified xsi:type="dcterms:W3CDTF">2026-09-10T12:38:29Z</dcterms:modified>
</cp:coreProperties>
</file>