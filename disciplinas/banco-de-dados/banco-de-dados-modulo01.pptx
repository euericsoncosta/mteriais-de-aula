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o destino logo no início: o aluno sai daqui sabendo modelar e escrever SQL, com um projeto pronto.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Analogia central da aula. Repita: ninguém mexe nos dados direto; tudo passa pelo SGBD, que controla e protege.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aprofundar cada tipo; a meta é o aluno perceber que NoSQL é uma família. Documento (MongoDB) é o mais comum de citar.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Pode ser feito em dupla, oral ou escrito. Gabarito no próximo slide — não exibir antes de tentarem.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Deixe os alunos desenharem no papel ou no brModelo. A cardinalidade Leitor-Livro costuma gerar boa discussão (N:N via empréstimo).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image" Target="../media/image-3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3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0B5566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383280"/>
            <a:ext cx="4114800" cy="4114800"/>
          </a:xfrm>
          <a:prstGeom prst="ellipse">
            <a:avLst/>
          </a:prstGeom>
          <a:solidFill>
            <a:srgbClr val="0C464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0" y="77724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1554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 · 60 HORAS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777240" y="196596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Banco de Dados</a:t>
            </a:r>
            <a:endParaRPr lang="en-US" sz="6000" dirty="0"/>
          </a:p>
        </p:txBody>
      </p:sp>
      <p:sp>
        <p:nvSpPr>
          <p:cNvPr id="7" name="Text 4"/>
          <p:cNvSpPr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01  </a:t>
            </a:r>
            <a:pPr indent="0" marL="0">
              <a:buNone/>
            </a:pPr>
            <a:r>
              <a:rPr lang="en-US" sz="24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Visão Geral sobre Banco de Dados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822960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C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1 · Aulas 01 a 05 · Eixo Informação e Comunicação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DISCIPLINA SE ORGANIZA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disciplina em 3 módulos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584448" cy="3840480"/>
          </a:xfrm>
          <a:prstGeom prst="roundRect">
            <a:avLst>
              <a:gd name="adj" fmla="val 2551"/>
            </a:avLst>
          </a:prstGeom>
          <a:solidFill>
            <a:srgbClr val="ECFBF8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194560"/>
            <a:ext cx="960120" cy="9601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5870" y="2434590"/>
            <a:ext cx="480060" cy="4800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3337560"/>
            <a:ext cx="2852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01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05840" y="3611880"/>
            <a:ext cx="2852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Visão Geral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1005840" y="4178808"/>
            <a:ext cx="28529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banco de dados, SGBD e introdução à modelagem.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1005840" y="5166360"/>
            <a:ext cx="2852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1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2532888" y="2039112"/>
            <a:ext cx="1417320" cy="256032"/>
          </a:xfrm>
          <a:prstGeom prst="rect">
            <a:avLst/>
          </a:prstGeom>
          <a:solidFill>
            <a:srgbClr val="14B8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ESTÁ AQUI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471416" y="1783080"/>
            <a:ext cx="3584448" cy="3840480"/>
          </a:xfrm>
          <a:prstGeom prst="roundRect">
            <a:avLst>
              <a:gd name="adj" fmla="val 2551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837176" y="2194560"/>
            <a:ext cx="960120" cy="960120"/>
          </a:xfrm>
          <a:prstGeom prst="ellipse">
            <a:avLst/>
          </a:prstGeom>
          <a:solidFill>
            <a:srgbClr val="ECFBF8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7206" y="2434590"/>
            <a:ext cx="480060" cy="4800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837176" y="3337560"/>
            <a:ext cx="2852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02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4837176" y="3611880"/>
            <a:ext cx="2852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Modelagem de Dados</a:t>
            </a:r>
            <a:endParaRPr lang="en-US" sz="1900" dirty="0"/>
          </a:p>
        </p:txBody>
      </p:sp>
      <p:sp>
        <p:nvSpPr>
          <p:cNvPr id="17" name="Text 13"/>
          <p:cNvSpPr/>
          <p:nvPr/>
        </p:nvSpPr>
        <p:spPr>
          <a:xfrm>
            <a:off x="4837176" y="4178808"/>
            <a:ext cx="28529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conceitual e lógico: entidades, atributos e relacionamentos.</a:t>
            </a:r>
            <a:endParaRPr lang="en-US" sz="1350" dirty="0"/>
          </a:p>
        </p:txBody>
      </p:sp>
      <p:sp>
        <p:nvSpPr>
          <p:cNvPr id="18" name="Text 14"/>
          <p:cNvSpPr/>
          <p:nvPr/>
        </p:nvSpPr>
        <p:spPr>
          <a:xfrm>
            <a:off x="4837176" y="5166360"/>
            <a:ext cx="2852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2 a 4</a:t>
            </a:r>
            <a:endParaRPr lang="en-US" sz="1250" dirty="0"/>
          </a:p>
        </p:txBody>
      </p:sp>
      <p:sp>
        <p:nvSpPr>
          <p:cNvPr id="19" name="Shape 15"/>
          <p:cNvSpPr/>
          <p:nvPr/>
        </p:nvSpPr>
        <p:spPr>
          <a:xfrm>
            <a:off x="8302752" y="1783080"/>
            <a:ext cx="3584448" cy="3840480"/>
          </a:xfrm>
          <a:prstGeom prst="roundRect">
            <a:avLst>
              <a:gd name="adj" fmla="val 2551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668512" y="2194560"/>
            <a:ext cx="960120" cy="960120"/>
          </a:xfrm>
          <a:prstGeom prst="ellipse">
            <a:avLst/>
          </a:prstGeom>
          <a:solidFill>
            <a:srgbClr val="ECFBF8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8542" y="2434590"/>
            <a:ext cx="480060" cy="48006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668512" y="3337560"/>
            <a:ext cx="2852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03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8668512" y="3611880"/>
            <a:ext cx="2852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Introdução a SQL</a:t>
            </a:r>
            <a:endParaRPr lang="en-US" sz="1900" dirty="0"/>
          </a:p>
        </p:txBody>
      </p:sp>
      <p:sp>
        <p:nvSpPr>
          <p:cNvPr id="24" name="Text 19"/>
          <p:cNvSpPr/>
          <p:nvPr/>
        </p:nvSpPr>
        <p:spPr>
          <a:xfrm>
            <a:off x="8668512" y="4178808"/>
            <a:ext cx="28529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Criar, consultar e manipular dados; projeto final de banco.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8668512" y="5166360"/>
            <a:ext cx="2852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5 a 12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DA SEMANA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 que veremos nesta semana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929384"/>
            <a:ext cx="548640" cy="54864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293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45920" y="1911096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2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01 · Apresentação da disciplina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645920" y="2240280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curso, materiais, ferramentas e avaliações.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743200"/>
            <a:ext cx="1088136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89504"/>
            <a:ext cx="548640" cy="54864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88950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645920" y="2871216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2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02 · Introdução a Banco de Dados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645920" y="3200400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é, onde está e por que existe.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703320"/>
            <a:ext cx="1088136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3849624"/>
            <a:ext cx="548640" cy="54864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849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645920" y="3831336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2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03 · SGBD e principais bancos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645920" y="4160520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faz um gerenciador e quais são os mais usados.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4663440"/>
            <a:ext cx="1088136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68680" y="4809744"/>
            <a:ext cx="548640" cy="54864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48097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04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645920" y="4791456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2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04 · Exercício de revisão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645920" y="5120640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Fixação dos conceitos das aulas anteriores.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5623560"/>
            <a:ext cx="1088136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68680" y="5769864"/>
            <a:ext cx="548640" cy="54864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57698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05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1645920" y="5751576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2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05 · Introdução à modelagem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1645920" y="6080760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Primeiro contato com o Modelo Conceitual.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3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-2194560"/>
            <a:ext cx="5943600" cy="5943600"/>
          </a:xfrm>
          <a:prstGeom prst="ellipse">
            <a:avLst/>
          </a:prstGeom>
          <a:solidFill>
            <a:srgbClr val="0B5566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0" y="914400"/>
            <a:ext cx="45720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b="1" dirty="0">
                <a:solidFill>
                  <a:srgbClr val="0C4647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01</a:t>
            </a:r>
            <a:endParaRPr lang="en-US" sz="20000" dirty="0"/>
          </a:p>
        </p:txBody>
      </p:sp>
      <p:sp>
        <p:nvSpPr>
          <p:cNvPr id="4" name="Text 2"/>
          <p:cNvSpPr/>
          <p:nvPr/>
        </p:nvSpPr>
        <p:spPr>
          <a:xfrm>
            <a:off x="822960" y="2240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01 · AULA INICIAL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651760"/>
            <a:ext cx="8686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Apresentação da disciplina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82296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DC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01 · 50 min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01 · VISÃO GERAL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 que vamos aprender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60 horas, você vai percorrer três grandes etapas: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2560320"/>
            <a:ext cx="324612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988820" y="2834640"/>
            <a:ext cx="914400" cy="914400"/>
          </a:xfrm>
          <a:prstGeom prst="ellipse">
            <a:avLst/>
          </a:prstGeom>
          <a:solidFill>
            <a:srgbClr val="ECFBF8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17420" y="306324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3767328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 · Entender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051560" y="4078224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são dados, bancos de dados e SGBDs.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105656" y="3474720"/>
            <a:ext cx="457200" cy="0"/>
          </a:xfrm>
          <a:prstGeom prst="line">
            <a:avLst/>
          </a:prstGeom>
          <a:noFill/>
          <a:ln w="38100">
            <a:solidFill>
              <a:srgbClr val="0B5566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4599432" y="2560320"/>
            <a:ext cx="324612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765292" y="2834640"/>
            <a:ext cx="914400" cy="914400"/>
          </a:xfrm>
          <a:prstGeom prst="ellipse">
            <a:avLst/>
          </a:prstGeom>
          <a:solidFill>
            <a:srgbClr val="ECFBF8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3892" y="3063240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690872" y="3767328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 · Modelar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4828032" y="4078224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Desenhar a estrutura do banco antes de criá-lo.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7882128" y="3474720"/>
            <a:ext cx="457200" cy="0"/>
          </a:xfrm>
          <a:prstGeom prst="line">
            <a:avLst/>
          </a:prstGeom>
          <a:noFill/>
          <a:ln w="38100">
            <a:solidFill>
              <a:srgbClr val="0B5566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8375904" y="2560320"/>
            <a:ext cx="324612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541764" y="2834640"/>
            <a:ext cx="914400" cy="914400"/>
          </a:xfrm>
          <a:prstGeom prst="ellipse">
            <a:avLst/>
          </a:prstGeom>
          <a:solidFill>
            <a:srgbClr val="ECFBF8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0364" y="306324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67344" y="3767328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 · Programar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8604504" y="4078224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Criar e consultar os dados usando SQL.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822960" y="4892040"/>
            <a:ext cx="10515600" cy="1005840"/>
          </a:xfrm>
          <a:prstGeom prst="roundRect">
            <a:avLst>
              <a:gd name="adj" fmla="val 9091"/>
            </a:avLst>
          </a:prstGeom>
          <a:solidFill>
            <a:srgbClr val="0E7490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8720" y="5138928"/>
            <a:ext cx="502920" cy="50292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920240" y="489204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final  </a:t>
            </a:r>
            <a:pPr indent="0" marL="0">
              <a:buNone/>
            </a:pPr>
            <a:r>
              <a:rPr lang="en-US" sz="16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um projeto completo: do modelo conceitual ao banco funcionando.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01 · PLANO DE CURSO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Como vamos avançar, semana a semana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881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722376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Módulo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 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Módulo 01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Conceitos: banco de dados, SGBD e introdução à modelagem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Semanas 2–3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Módulo 02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 conceitual: entidades, atributos e relacionamentos (brModelo)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 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Módulo 02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 lógico e primeiro contato com o MariaDB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Semanas 5–7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Módulo 03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— criar e manipular dados (CREATE, INSERT, UPDATE, DELETE)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Semanas 8–9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Módulo 03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— consultas: SELECT, JOINs, funções e agrupamentos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Semanas 10–12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Módulo 03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Projeto: do modelo lógico ao físico e avaliação final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01 · MATERIAIS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Ferramentas que vamos usar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584448" cy="3657600"/>
          </a:xfrm>
          <a:prstGeom prst="roundRect">
            <a:avLst>
              <a:gd name="adj" fmla="val 2551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194560"/>
            <a:ext cx="914400" cy="914400"/>
          </a:xfrm>
          <a:prstGeom prst="ellipse">
            <a:avLst/>
          </a:prstGeom>
          <a:solidFill>
            <a:srgbClr val="ECFBF8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242316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329184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brModelo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005840" y="3794760"/>
            <a:ext cx="28529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desenhar os modelos conceitual e lógico.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005840" y="5029200"/>
            <a:ext cx="2852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Usaremos em: Módulo 02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471416" y="1828800"/>
            <a:ext cx="3584448" cy="3657600"/>
          </a:xfrm>
          <a:prstGeom prst="roundRect">
            <a:avLst>
              <a:gd name="adj" fmla="val 2551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837176" y="2194560"/>
            <a:ext cx="914400" cy="914400"/>
          </a:xfrm>
          <a:prstGeom prst="ellipse">
            <a:avLst/>
          </a:prstGeom>
          <a:solidFill>
            <a:srgbClr val="ECFBF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5776" y="242316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837176" y="329184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MariaDB / MySQL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4837176" y="3794760"/>
            <a:ext cx="28529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SGBD onde os dados realmente ficam guardados.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837176" y="5029200"/>
            <a:ext cx="2852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Usaremos em: Módulos 02 e 03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8302752" y="1828800"/>
            <a:ext cx="3584448" cy="3657600"/>
          </a:xfrm>
          <a:prstGeom prst="roundRect">
            <a:avLst>
              <a:gd name="adj" fmla="val 2551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668512" y="2194560"/>
            <a:ext cx="914400" cy="914400"/>
          </a:xfrm>
          <a:prstGeom prst="ellipse">
            <a:avLst/>
          </a:prstGeom>
          <a:solidFill>
            <a:srgbClr val="ECFBF8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7112" y="2423160"/>
            <a:ext cx="457200" cy="45720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668512" y="329184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MySQL Workbench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8668512" y="3794760"/>
            <a:ext cx="28529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visual para criar tabelas e rodar comandos SQL.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8668512" y="5029200"/>
            <a:ext cx="2852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Usaremos em: Módulo 03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640080" y="58521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 são gratuitas e rodam no Linux Mint do laboratório.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01 · AVALIAÇÃO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Como você será avaliado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34924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194560"/>
            <a:ext cx="914400" cy="914400"/>
          </a:xfrm>
          <a:prstGeom prst="ellipse">
            <a:avLst/>
          </a:prstGeom>
          <a:solidFill>
            <a:srgbClr val="ECFBF8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242316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103120" y="23317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Exercícios práticos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1005840" y="3383280"/>
            <a:ext cx="4663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longo de quase todas as aulas.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Servem para fixar e mostrar onde você está.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Muitos são feitos direto no brModelo ou no SGBD.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172200" y="1828800"/>
            <a:ext cx="5349240" cy="3200400"/>
          </a:xfrm>
          <a:prstGeom prst="roundRect">
            <a:avLst>
              <a:gd name="adj" fmla="val 2857"/>
            </a:avLst>
          </a:prstGeom>
          <a:solidFill>
            <a:srgbClr val="ECFBF8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37960" y="219456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242316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635240" y="23317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Projeto final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6537960" y="3383280"/>
            <a:ext cx="4663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banco de dados completo.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modelo conceitual ao modelo físico.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tudo o que aprendemos na disciplina.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40080" y="525780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4FAF9"/>
          </a:solidFill>
          <a:ln w="12700">
            <a:solidFill>
              <a:srgbClr val="CFE6E2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14400" y="525780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Combinados:  </a:t>
            </a:r>
            <a:pPr indent="0" marL="0">
              <a:buNone/>
            </a:pPr>
            <a:r>
              <a:rPr lang="en-US" sz="145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participação nas aulas práticas, entregas no prazo e trabalho em dupla quando indicado.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3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-2194560"/>
            <a:ext cx="5943600" cy="5943600"/>
          </a:xfrm>
          <a:prstGeom prst="ellipse">
            <a:avLst/>
          </a:prstGeom>
          <a:solidFill>
            <a:srgbClr val="0B5566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0" y="914400"/>
            <a:ext cx="45720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b="1" dirty="0">
                <a:solidFill>
                  <a:srgbClr val="0C4647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02</a:t>
            </a:r>
            <a:endParaRPr lang="en-US" sz="20000" dirty="0"/>
          </a:p>
        </p:txBody>
      </p:sp>
      <p:sp>
        <p:nvSpPr>
          <p:cNvPr id="4" name="Text 2"/>
          <p:cNvSpPr/>
          <p:nvPr/>
        </p:nvSpPr>
        <p:spPr>
          <a:xfrm>
            <a:off x="822960" y="2240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01 · INTRODUÇÃO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651760"/>
            <a:ext cx="8686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Introdução a Banco de Dados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82296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DC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02 · 50 min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02 · CONCEITO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 que é um banco de dados?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6492240" cy="3840480"/>
          </a:xfrm>
          <a:prstGeom prst="roundRect">
            <a:avLst>
              <a:gd name="adj" fmla="val 2381"/>
            </a:avLst>
          </a:prstGeom>
          <a:solidFill>
            <a:srgbClr val="ECFBF8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2148840"/>
            <a:ext cx="5852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Definição
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100" dirty="0">
                <a:solidFill>
                  <a:srgbClr val="12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banco de dados é uma coleção organizada de dados, guardada de forma que possa ser facilmente acessada, pesquisada e atualizada.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05840" y="475488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Palavra-chave: </a:t>
            </a:r>
            <a:pPr indent="0" marL="0">
              <a:buNone/>
            </a:pPr>
            <a:r>
              <a:rPr lang="en-US" sz="1500" b="1" i="1" dirty="0">
                <a:solidFill>
                  <a:srgbClr val="0B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organizada. </a:t>
            </a:r>
            <a:pPr indent="0" marL="0">
              <a:buNone/>
            </a:pPr>
            <a:r>
              <a:rPr lang="en-US" sz="150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solto não é banco de dados.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60920" y="1783080"/>
            <a:ext cx="4160520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680960" y="20574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DO DIA A DIA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680960" y="23317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agenda de contatos do celular</a:t>
            </a:r>
            <a:endParaRPr lang="en-US" sz="16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3017520"/>
          <a:ext cx="352044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7373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Telefone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 Lima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(85) 9 9999-1010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Bruno Sá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(85) 9 8888-2020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Carla Reis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(85) 9 7777-3030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7680960" y="50292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linha é um registro; cada coluna é um campo.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02 · VOCABULÁRIO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Anatomia de uma tabela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011680"/>
          <a:ext cx="5943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743200"/>
                <a:gridCol w="14630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matricula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turma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 Lima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1º 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Bruno Sá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1º 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Carla Reis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1º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16916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Tabela: Alunos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6858000" y="1920240"/>
            <a:ext cx="46634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086600" y="2212848"/>
            <a:ext cx="640080" cy="640080"/>
          </a:xfrm>
          <a:prstGeom prst="ellipse">
            <a:avLst/>
          </a:prstGeom>
          <a:solidFill>
            <a:srgbClr val="ECFBF8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46620" y="2372868"/>
            <a:ext cx="320040" cy="3200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863840" y="208483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Registro (linha)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7863840" y="242316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item completo da tabela. Aqui, um aluno inteiro.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858000" y="3291840"/>
            <a:ext cx="46634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7086600" y="3584448"/>
            <a:ext cx="640080" cy="640080"/>
          </a:xfrm>
          <a:prstGeom prst="ellipse">
            <a:avLst/>
          </a:prstGeom>
          <a:solidFill>
            <a:srgbClr val="ECFBF8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6620" y="3744468"/>
            <a:ext cx="320040" cy="32004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863840" y="345643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Campo (coluna)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7863840" y="379476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tipo de dado guardado para todos os registros.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858000" y="4663440"/>
            <a:ext cx="46634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7086600" y="4956048"/>
            <a:ext cx="640080" cy="640080"/>
          </a:xfrm>
          <a:prstGeom prst="ellipse">
            <a:avLst/>
          </a:prstGeom>
          <a:solidFill>
            <a:srgbClr val="ECFBF8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6620" y="5116068"/>
            <a:ext cx="320040" cy="32004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7863840" y="482803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Chave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7863840" y="516636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campo que identifica cada registro sem repetir. Aqui, a matrícula.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02 · NO DIA A DIA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Bancos de dados estão em todo lugar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58444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240280"/>
            <a:ext cx="914400" cy="914400"/>
          </a:xfrm>
          <a:prstGeom prst="ellipse">
            <a:avLst/>
          </a:prstGeom>
          <a:solidFill>
            <a:srgbClr val="ECFBF8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246888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011680" y="22402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Redes sociais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2011680" y="267004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Posts, curtidas e seguidores.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471416" y="1828800"/>
            <a:ext cx="358444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914400" cy="914400"/>
          </a:xfrm>
          <a:prstGeom prst="ellipse">
            <a:avLst/>
          </a:prstGeom>
          <a:solidFill>
            <a:srgbClr val="ECFBF8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0056" y="246888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843016" y="22402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Bancos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5843016" y="267004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Saldos e transações.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302752" y="1828800"/>
            <a:ext cx="358444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22792" y="2240280"/>
            <a:ext cx="914400" cy="914400"/>
          </a:xfrm>
          <a:prstGeom prst="ellipse">
            <a:avLst/>
          </a:prstGeom>
          <a:solidFill>
            <a:srgbClr val="ECFBF8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1392" y="246888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674352" y="22402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Escola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9674352" y="267004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Notas, faltas e matrículas.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40080" y="3840480"/>
            <a:ext cx="358444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60120" y="4251960"/>
            <a:ext cx="914400" cy="914400"/>
          </a:xfrm>
          <a:prstGeom prst="ellipse">
            <a:avLst/>
          </a:prstGeom>
          <a:solidFill>
            <a:srgbClr val="ECFBF8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8720" y="4480560"/>
            <a:ext cx="457200" cy="45720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2011680" y="42519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Lojas online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2011680" y="468172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Produtos e pedidos.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4471416" y="3840480"/>
            <a:ext cx="358444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791456" y="4251960"/>
            <a:ext cx="914400" cy="914400"/>
          </a:xfrm>
          <a:prstGeom prst="ellipse">
            <a:avLst/>
          </a:prstGeom>
          <a:solidFill>
            <a:srgbClr val="ECFBF8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0056" y="4480560"/>
            <a:ext cx="457200" cy="45720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843016" y="42519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Streaming</a:t>
            </a:r>
            <a:endParaRPr lang="en-US" sz="1600" dirty="0"/>
          </a:p>
        </p:txBody>
      </p:sp>
      <p:sp>
        <p:nvSpPr>
          <p:cNvPr id="28" name="Text 21"/>
          <p:cNvSpPr/>
          <p:nvPr/>
        </p:nvSpPr>
        <p:spPr>
          <a:xfrm>
            <a:off x="5843016" y="468172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e histórico.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302752" y="3840480"/>
            <a:ext cx="358444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622792" y="4251960"/>
            <a:ext cx="914400" cy="914400"/>
          </a:xfrm>
          <a:prstGeom prst="ellipse">
            <a:avLst/>
          </a:prstGeom>
          <a:solidFill>
            <a:srgbClr val="ECFBF8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51392" y="4480560"/>
            <a:ext cx="457200" cy="45720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9674352" y="42519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Saúde</a:t>
            </a:r>
            <a:endParaRPr lang="en-US" sz="1600" dirty="0"/>
          </a:p>
        </p:txBody>
      </p:sp>
      <p:sp>
        <p:nvSpPr>
          <p:cNvPr id="33" name="Text 25"/>
          <p:cNvSpPr/>
          <p:nvPr/>
        </p:nvSpPr>
        <p:spPr>
          <a:xfrm>
            <a:off x="9674352" y="468172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Prontuários de pacientes.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02 · CONCEITO-CHAVE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Dado x Informação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349240" cy="37490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194560"/>
            <a:ext cx="868680" cy="868680"/>
          </a:xfrm>
          <a:prstGeom prst="ellipse">
            <a:avLst/>
          </a:prstGeom>
          <a:solidFill>
            <a:srgbClr val="ECFBF8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3010" y="2411730"/>
            <a:ext cx="434340" cy="4343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057400" y="2331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DADO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005840" y="32461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valor isolado, sem contexto. Sozinho, diz pouco.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1005840" y="3977640"/>
            <a:ext cx="4663440" cy="548640"/>
          </a:xfrm>
          <a:prstGeom prst="rect">
            <a:avLst/>
          </a:prstGeom>
          <a:solidFill>
            <a:srgbClr val="F4FA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55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  ·   "Ana"   ·   2026-06-15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172200" y="1828800"/>
            <a:ext cx="5349240" cy="3749040"/>
          </a:xfrm>
          <a:prstGeom prst="roundRect">
            <a:avLst>
              <a:gd name="adj" fmla="val 2439"/>
            </a:avLst>
          </a:prstGeom>
          <a:solidFill>
            <a:srgbClr val="ECFBF8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37960" y="2194560"/>
            <a:ext cx="868680" cy="8686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5130" y="2411730"/>
            <a:ext cx="434340" cy="4343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589520" y="2331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INFORMAÇÃO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537960" y="32461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organizados e com contexto. Geram significado.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6537960" y="3977640"/>
            <a:ext cx="46634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0B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"Ana, 28 anos, matriculou-se em 15/06/2026."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banco de dados guarda dados; o uso desses dados, organizados, produz informação.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02 · POR QUE USAR BANCO DE DADOS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 se guardássemos tudo em arquivos soltos?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2651760" cy="35661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08760" y="2240280"/>
            <a:ext cx="914400" cy="914400"/>
          </a:xfrm>
          <a:prstGeom prst="ellipse">
            <a:avLst/>
          </a:prstGeom>
          <a:solidFill>
            <a:srgbClr val="ECFBF8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360" y="246888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2918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Redundância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22960" y="388620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mesmo dado repetido em vários arquivos, ocupando espaço.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410712" y="1874520"/>
            <a:ext cx="2651760" cy="35661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279392" y="2240280"/>
            <a:ext cx="914400" cy="914400"/>
          </a:xfrm>
          <a:prstGeom prst="ellipse">
            <a:avLst/>
          </a:prstGeom>
          <a:solidFill>
            <a:srgbClr val="ECFBF8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7992" y="246888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93592" y="32918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Inconsistência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3593592" y="388620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 num arquivo, esquece no outro: versões diferentes.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181344" y="1874520"/>
            <a:ext cx="2651760" cy="35661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050024" y="2240280"/>
            <a:ext cx="914400" cy="914400"/>
          </a:xfrm>
          <a:prstGeom prst="ellipse">
            <a:avLst/>
          </a:prstGeom>
          <a:solidFill>
            <a:srgbClr val="ECFBF8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8624" y="246888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364224" y="32918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Difícil de buscar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6364224" y="388620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Encontrar um registro vira uma caça manual demorada.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8951976" y="1874520"/>
            <a:ext cx="2651760" cy="35661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820656" y="2240280"/>
            <a:ext cx="914400" cy="914400"/>
          </a:xfrm>
          <a:prstGeom prst="ellipse">
            <a:avLst/>
          </a:prstGeom>
          <a:solidFill>
            <a:srgbClr val="ECFBF8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9256" y="2468880"/>
            <a:ext cx="457200" cy="45720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134856" y="32918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Sem controle de acesso</a:t>
            </a:r>
            <a:endParaRPr lang="en-US" sz="1550" dirty="0"/>
          </a:p>
        </p:txBody>
      </p:sp>
      <p:sp>
        <p:nvSpPr>
          <p:cNvPr id="23" name="Text 17"/>
          <p:cNvSpPr/>
          <p:nvPr/>
        </p:nvSpPr>
        <p:spPr>
          <a:xfrm>
            <a:off x="9134856" y="388620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Qualquer um abre, altera ou apaga sem registro.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640080" y="57150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banco de dados resolve todos esses problemas de uma vez — com a ajuda de um SGBD.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02 · FECHANDO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 essencial da aula 02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584448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286000"/>
            <a:ext cx="914400" cy="914400"/>
          </a:xfrm>
          <a:prstGeom prst="ellipse">
            <a:avLst/>
          </a:prstGeom>
          <a:solidFill>
            <a:srgbClr val="ECFBF8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251460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3383280"/>
            <a:ext cx="28529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É uma coleção organizada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1005840" y="4069080"/>
            <a:ext cx="28529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 guarda dados de forma estruturada e fácil de acessar.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471416" y="1920240"/>
            <a:ext cx="3584448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837176" y="2286000"/>
            <a:ext cx="914400" cy="914400"/>
          </a:xfrm>
          <a:prstGeom prst="ellipse">
            <a:avLst/>
          </a:prstGeom>
          <a:solidFill>
            <a:srgbClr val="ECFBF8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5776" y="251460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837176" y="3383280"/>
            <a:ext cx="28529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Dado vira informação</a:t>
            </a:r>
            <a:endParaRPr lang="en-US" sz="1650" dirty="0"/>
          </a:p>
        </p:txBody>
      </p:sp>
      <p:sp>
        <p:nvSpPr>
          <p:cNvPr id="13" name="Text 9"/>
          <p:cNvSpPr/>
          <p:nvPr/>
        </p:nvSpPr>
        <p:spPr>
          <a:xfrm>
            <a:off x="4837176" y="4069080"/>
            <a:ext cx="28529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contexto e organização, o dado passa a ter significado.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8302752" y="1920240"/>
            <a:ext cx="3584448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86000"/>
            <a:ext cx="914400" cy="914400"/>
          </a:xfrm>
          <a:prstGeom prst="ellipse">
            <a:avLst/>
          </a:prstGeom>
          <a:solidFill>
            <a:srgbClr val="ECFBF8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7112" y="251460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383280"/>
            <a:ext cx="28529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Resolve os problemas dos arquivos</a:t>
            </a:r>
            <a:endParaRPr lang="en-US" sz="1650" dirty="0"/>
          </a:p>
        </p:txBody>
      </p:sp>
      <p:sp>
        <p:nvSpPr>
          <p:cNvPr id="18" name="Text 13"/>
          <p:cNvSpPr/>
          <p:nvPr/>
        </p:nvSpPr>
        <p:spPr>
          <a:xfrm>
            <a:off x="8668512" y="4069080"/>
            <a:ext cx="28529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Acaba com redundância, inconsistência e falta de controle.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3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-2194560"/>
            <a:ext cx="5943600" cy="5943600"/>
          </a:xfrm>
          <a:prstGeom prst="ellipse">
            <a:avLst/>
          </a:prstGeom>
          <a:solidFill>
            <a:srgbClr val="0B5566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0" y="914400"/>
            <a:ext cx="45720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b="1" dirty="0">
                <a:solidFill>
                  <a:srgbClr val="0C4647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03</a:t>
            </a:r>
            <a:endParaRPr lang="en-US" sz="20000" dirty="0"/>
          </a:p>
        </p:txBody>
      </p:sp>
      <p:sp>
        <p:nvSpPr>
          <p:cNvPr id="4" name="Text 2"/>
          <p:cNvSpPr/>
          <p:nvPr/>
        </p:nvSpPr>
        <p:spPr>
          <a:xfrm>
            <a:off x="822960" y="2240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01 · GERENCIADOR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651760"/>
            <a:ext cx="8686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SGBD e principais bancos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82296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DC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03 · 50 min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03 · CONCEITO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SGBD — Sistema Gerenciador de Banco de Dados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software que fica entre você e os dados. Você pede; ele cuida de guardar, proteger e devolver com segurança.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822960" y="3017520"/>
            <a:ext cx="292608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828800" y="3310128"/>
            <a:ext cx="914400" cy="914400"/>
          </a:xfrm>
          <a:prstGeom prst="ellipse">
            <a:avLst/>
          </a:prstGeom>
          <a:solidFill>
            <a:srgbClr val="ECFBF8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7400" y="3538728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2245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Usuário / Aplicativo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914400" y="44988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 pedidos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617720" y="3017520"/>
            <a:ext cx="2926080" cy="1737360"/>
          </a:xfrm>
          <a:prstGeom prst="roundRect">
            <a:avLst>
              <a:gd name="adj" fmla="val 5263"/>
            </a:avLst>
          </a:prstGeom>
          <a:solidFill>
            <a:srgbClr val="0E7490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623560" y="3310128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3538728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09160" y="42245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SGBD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4709160" y="44988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 tudo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8412480" y="3017520"/>
            <a:ext cx="292608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418320" y="3310128"/>
            <a:ext cx="914400" cy="914400"/>
          </a:xfrm>
          <a:prstGeom prst="ellipse">
            <a:avLst/>
          </a:prstGeom>
          <a:solidFill>
            <a:srgbClr val="ECFBF8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3538728"/>
            <a:ext cx="457200" cy="4572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503920" y="42245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Banco de Dados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8503920" y="44988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armazenados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3794760" y="3886200"/>
            <a:ext cx="777240" cy="0"/>
          </a:xfrm>
          <a:prstGeom prst="line">
            <a:avLst/>
          </a:prstGeom>
          <a:noFill/>
          <a:ln w="38100">
            <a:solidFill>
              <a:srgbClr val="0B5566"/>
            </a:solidFill>
            <a:prstDash val="solid"/>
            <a:tailEnd type="triangle"/>
          </a:ln>
        </p:spPr>
      </p:sp>
      <p:sp>
        <p:nvSpPr>
          <p:cNvPr id="21" name="Shape 16"/>
          <p:cNvSpPr/>
          <p:nvPr/>
        </p:nvSpPr>
        <p:spPr>
          <a:xfrm>
            <a:off x="7589520" y="3886200"/>
            <a:ext cx="777240" cy="0"/>
          </a:xfrm>
          <a:prstGeom prst="line">
            <a:avLst/>
          </a:prstGeom>
          <a:noFill/>
          <a:ln w="38100">
            <a:solidFill>
              <a:srgbClr val="0B5566"/>
            </a:solidFill>
            <a:prstDash val="solid"/>
            <a:headEnd type="triangle"/>
            <a:tailEnd type="triangle"/>
          </a:ln>
        </p:spPr>
      </p:sp>
      <p:sp>
        <p:nvSpPr>
          <p:cNvPr id="22" name="Text 17"/>
          <p:cNvSpPr/>
          <p:nvPr/>
        </p:nvSpPr>
        <p:spPr>
          <a:xfrm>
            <a:off x="640080" y="53949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Exemplos de SGBD: MySQL, MariaDB, PostgreSQL, Oracle, SQL Server.</a:t>
            </a:r>
            <a:endParaRPr lang="en-US" sz="14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03 · PARA ENTENDER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 SGBD é como um bibliotecário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não entra no acervo bagunçado: você pede e ele cuida do resto.</a:t>
            </a:r>
            <a:endParaRPr lang="en-US" sz="1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40280"/>
          <a:ext cx="10881360" cy="914400"/>
        </p:xfrm>
        <a:graphic>
          <a:graphicData uri="http://schemas.openxmlformats.org/drawingml/2006/table">
            <a:tbl>
              <a:tblPr/>
              <a:tblGrid>
                <a:gridCol w="5440680"/>
                <a:gridCol w="5440680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 biblioteca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56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banco de dados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Você pede um livro ao bibliotecário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Seu app faz um pedido ao SGBD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BF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 acha e entrega o livro certo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 busca e devolve os dados certos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Controla quem pode pegar e levar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Controla quem pode ver e alterar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BF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Mantém as estantes em ordem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Mantém os dados íntegros e organizados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03 · FUNÇÕES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 que um SGBD faz por você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58444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286000"/>
            <a:ext cx="868680" cy="868680"/>
          </a:xfrm>
          <a:prstGeom prst="ellipse">
            <a:avLst/>
          </a:prstGeom>
          <a:solidFill>
            <a:srgbClr val="ECFBF8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7290" y="2503170"/>
            <a:ext cx="434340" cy="4343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65960" y="221284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Armazena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965960" y="2633472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 os dados de forma estruturada.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471416" y="1828800"/>
            <a:ext cx="358444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86000"/>
            <a:ext cx="868680" cy="868680"/>
          </a:xfrm>
          <a:prstGeom prst="ellipse">
            <a:avLst/>
          </a:prstGeom>
          <a:solidFill>
            <a:srgbClr val="ECFBF8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8626" y="2503170"/>
            <a:ext cx="434340" cy="4343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797296" y="221284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Consulta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5797296" y="2633472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e devolve dados rapidamente.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302752" y="1828800"/>
            <a:ext cx="358444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22792" y="2286000"/>
            <a:ext cx="868680" cy="868680"/>
          </a:xfrm>
          <a:prstGeom prst="ellipse">
            <a:avLst/>
          </a:prstGeom>
          <a:solidFill>
            <a:srgbClr val="ECFBF8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9962" y="2503170"/>
            <a:ext cx="434340" cy="4343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628632" y="221284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Integridade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9628632" y="2633472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Impede dados inválidos ou duplicados.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40080" y="3840480"/>
            <a:ext cx="358444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60120" y="4297680"/>
            <a:ext cx="868680" cy="868680"/>
          </a:xfrm>
          <a:prstGeom prst="ellipse">
            <a:avLst/>
          </a:prstGeom>
          <a:solidFill>
            <a:srgbClr val="ECFBF8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7290" y="4514850"/>
            <a:ext cx="434340" cy="43434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965960" y="422452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Segurança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1965960" y="4645152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 quem pode ver e alterar.</a:t>
            </a:r>
            <a:endParaRPr lang="en-US" sz="1250" dirty="0"/>
          </a:p>
        </p:txBody>
      </p:sp>
      <p:sp>
        <p:nvSpPr>
          <p:cNvPr id="24" name="Shape 18"/>
          <p:cNvSpPr/>
          <p:nvPr/>
        </p:nvSpPr>
        <p:spPr>
          <a:xfrm>
            <a:off x="4471416" y="3840480"/>
            <a:ext cx="358444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791456" y="4297680"/>
            <a:ext cx="868680" cy="868680"/>
          </a:xfrm>
          <a:prstGeom prst="ellipse">
            <a:avLst/>
          </a:prstGeom>
          <a:solidFill>
            <a:srgbClr val="ECFBF8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08626" y="4514850"/>
            <a:ext cx="434340" cy="43434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797296" y="422452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Multiusuário</a:t>
            </a:r>
            <a:endParaRPr lang="en-US" sz="1600" dirty="0"/>
          </a:p>
        </p:txBody>
      </p:sp>
      <p:sp>
        <p:nvSpPr>
          <p:cNvPr id="28" name="Text 21"/>
          <p:cNvSpPr/>
          <p:nvPr/>
        </p:nvSpPr>
        <p:spPr>
          <a:xfrm>
            <a:off x="5797296" y="4645152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Vários usuários ao mesmo tempo.</a:t>
            </a:r>
            <a:endParaRPr lang="en-US" sz="1250" dirty="0"/>
          </a:p>
        </p:txBody>
      </p:sp>
      <p:sp>
        <p:nvSpPr>
          <p:cNvPr id="29" name="Shape 22"/>
          <p:cNvSpPr/>
          <p:nvPr/>
        </p:nvSpPr>
        <p:spPr>
          <a:xfrm>
            <a:off x="8302752" y="3840480"/>
            <a:ext cx="358444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622792" y="4297680"/>
            <a:ext cx="868680" cy="868680"/>
          </a:xfrm>
          <a:prstGeom prst="ellipse">
            <a:avLst/>
          </a:prstGeom>
          <a:solidFill>
            <a:srgbClr val="ECFBF8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39962" y="4514850"/>
            <a:ext cx="434340" cy="43434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9628632" y="422452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Backup</a:t>
            </a:r>
            <a:endParaRPr lang="en-US" sz="1600" dirty="0"/>
          </a:p>
        </p:txBody>
      </p:sp>
      <p:sp>
        <p:nvSpPr>
          <p:cNvPr id="33" name="Text 25"/>
          <p:cNvSpPr/>
          <p:nvPr/>
        </p:nvSpPr>
        <p:spPr>
          <a:xfrm>
            <a:off x="9628632" y="4645152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Cópias para recuperar em caso de falha.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03 · PANORAMA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Principais SGBDs e suas diferenças</a:t>
            </a:r>
            <a:endParaRPr lang="en-US" sz="3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8813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011680"/>
                <a:gridCol w="3657600"/>
                <a:gridCol w="246888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SGBD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Destaque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Onde aparece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MySQL / MariaDB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Relacional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Gratuito e muito usado na web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Sites e sistemas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Relacional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Robusto e cheio de recursos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Sistemas complexos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SQLite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Relacional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Leve, num único arquivo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Apps de celular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Relacional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Padrão em grandes empresas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Bancos, governo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Server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Relacional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Forte no ecossistema Microsoft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Empresas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MongoDB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relacional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Guarda documentos (JSON)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Apps modernos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Nesta disciplina usaremos o MariaDB / MySQL com o MySQL Workbench.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03 · COMPARAÇÃO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Relacional x Não relacional (NoSQL)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349240" cy="4023360"/>
          </a:xfrm>
          <a:prstGeom prst="roundRect">
            <a:avLst>
              <a:gd name="adj" fmla="val 2273"/>
            </a:avLst>
          </a:prstGeom>
          <a:solidFill>
            <a:srgbClr val="ECFBF8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2103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RELACIONAL  ·  SQL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05840" y="246888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organizados em tabelas, com linhas e colunas bem definidas.</a:t>
            </a:r>
            <a:endParaRPr lang="en-US" sz="14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05840" y="3200400"/>
          <a:ext cx="4617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331720"/>
                <a:gridCol w="13716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idade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Bruno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2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1005840" y="52578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MySQL, MariaDB, PostgreSQL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72200" y="1828800"/>
            <a:ext cx="5349240" cy="402336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537960" y="2103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RELACIONAL  ·  NoSQL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537960" y="246888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em formatos flexíveis, como documentos parecidos com JSON.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537960" y="3200400"/>
            <a:ext cx="4617720" cy="1554480"/>
          </a:xfrm>
          <a:prstGeom prst="rect">
            <a:avLst/>
          </a:prstGeom>
          <a:solidFill>
            <a:srgbClr val="F4FAF9"/>
          </a:solidFill>
          <a:ln/>
        </p:spPr>
        <p:txBody>
          <a:bodyPr wrap="square" lIns="101600" tIns="101600" rIns="101600" bIns="10160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B55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0B55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1,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0B55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"nome": "Ana",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0B55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"idade": 28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0B55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6537960" y="52578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MongoDB, Redis, Cassandra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03 · NOSQL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Os quatro tipos de banco NoSQL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NoSQL não é um formato único, mas uma família de bancos que guardam os dados de maneiras diferentes das tabelas.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5440680" cy="1810512"/>
          </a:xfrm>
          <a:prstGeom prst="roundRect">
            <a:avLst>
              <a:gd name="adj" fmla="val 5051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743200"/>
            <a:ext cx="914400" cy="914400"/>
          </a:xfrm>
          <a:prstGeom prst="ellipse">
            <a:avLst/>
          </a:prstGeom>
          <a:solidFill>
            <a:srgbClr val="ECFBF8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297180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57400" y="2542032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Documento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2057400" y="2944368"/>
            <a:ext cx="3886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 parecidos com JSON, cada um com seus campos.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2057400" y="3584448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MongoDB, CouchDB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63640" y="2286000"/>
            <a:ext cx="5440680" cy="1810512"/>
          </a:xfrm>
          <a:prstGeom prst="roundRect">
            <a:avLst>
              <a:gd name="adj" fmla="val 5051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583680" y="2743200"/>
            <a:ext cx="914400" cy="914400"/>
          </a:xfrm>
          <a:prstGeom prst="ellipse">
            <a:avLst/>
          </a:prstGeom>
          <a:solidFill>
            <a:srgbClr val="ECFBF8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971800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680960" y="2542032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Chave-valor</a:t>
            </a:r>
            <a:endParaRPr lang="en-US" sz="1650" dirty="0"/>
          </a:p>
        </p:txBody>
      </p:sp>
      <p:sp>
        <p:nvSpPr>
          <p:cNvPr id="15" name="Text 11"/>
          <p:cNvSpPr/>
          <p:nvPr/>
        </p:nvSpPr>
        <p:spPr>
          <a:xfrm>
            <a:off x="7680960" y="2944368"/>
            <a:ext cx="3886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Pares de chave e valor, como um dicionário. Muito rápido.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7680960" y="3584448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Redis, DynamoDB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40080" y="4261104"/>
            <a:ext cx="5440680" cy="1810512"/>
          </a:xfrm>
          <a:prstGeom prst="roundRect">
            <a:avLst>
              <a:gd name="adj" fmla="val 5051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60120" y="4718304"/>
            <a:ext cx="914400" cy="914400"/>
          </a:xfrm>
          <a:prstGeom prst="ellipse">
            <a:avLst/>
          </a:prstGeom>
          <a:solidFill>
            <a:srgbClr val="ECFBF8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4946904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2057400" y="4517136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Colunar</a:t>
            </a:r>
            <a:endParaRPr lang="en-US" sz="1650" dirty="0"/>
          </a:p>
        </p:txBody>
      </p:sp>
      <p:sp>
        <p:nvSpPr>
          <p:cNvPr id="21" name="Text 16"/>
          <p:cNvSpPr/>
          <p:nvPr/>
        </p:nvSpPr>
        <p:spPr>
          <a:xfrm>
            <a:off x="2057400" y="4919472"/>
            <a:ext cx="3886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Organizado por colunas; bom para grandes volumes.</a:t>
            </a:r>
            <a:endParaRPr lang="en-US" sz="1250" dirty="0"/>
          </a:p>
        </p:txBody>
      </p:sp>
      <p:sp>
        <p:nvSpPr>
          <p:cNvPr id="22" name="Text 17"/>
          <p:cNvSpPr/>
          <p:nvPr/>
        </p:nvSpPr>
        <p:spPr>
          <a:xfrm>
            <a:off x="2057400" y="555955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Cassandra, HBase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6263640" y="4261104"/>
            <a:ext cx="5440680" cy="1810512"/>
          </a:xfrm>
          <a:prstGeom prst="roundRect">
            <a:avLst>
              <a:gd name="adj" fmla="val 5051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583680" y="4718304"/>
            <a:ext cx="914400" cy="914400"/>
          </a:xfrm>
          <a:prstGeom prst="ellipse">
            <a:avLst/>
          </a:prstGeom>
          <a:solidFill>
            <a:srgbClr val="ECFBF8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80" y="4946904"/>
            <a:ext cx="457200" cy="45720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680960" y="4517136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Grafo</a:t>
            </a:r>
            <a:endParaRPr lang="en-US" sz="1650" dirty="0"/>
          </a:p>
        </p:txBody>
      </p:sp>
      <p:sp>
        <p:nvSpPr>
          <p:cNvPr id="27" name="Text 21"/>
          <p:cNvSpPr/>
          <p:nvPr/>
        </p:nvSpPr>
        <p:spPr>
          <a:xfrm>
            <a:off x="7680960" y="4919472"/>
            <a:ext cx="3886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Nós e conexões; ideal para redes de relacionamentos.</a:t>
            </a:r>
            <a:endParaRPr lang="en-US" sz="1250" dirty="0"/>
          </a:p>
        </p:txBody>
      </p:sp>
      <p:sp>
        <p:nvSpPr>
          <p:cNvPr id="28" name="Text 22"/>
          <p:cNvSpPr/>
          <p:nvPr/>
        </p:nvSpPr>
        <p:spPr>
          <a:xfrm>
            <a:off x="7680960" y="555955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Neo4j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03 · NOSSA ESCOLHA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Por que vamos usar MariaDB / MySQL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406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331720"/>
            <a:ext cx="914400" cy="914400"/>
          </a:xfrm>
          <a:prstGeom prst="ellipse">
            <a:avLst/>
          </a:prstGeom>
          <a:solidFill>
            <a:srgbClr val="ECFBF8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256032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103120" y="225856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Gratuito e open source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2103120" y="26974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custo de licença para a escola e para você.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263640" y="1874520"/>
            <a:ext cx="54406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629400" y="2331720"/>
            <a:ext cx="914400" cy="914400"/>
          </a:xfrm>
          <a:prstGeom prst="ellipse">
            <a:avLst/>
          </a:prstGeom>
          <a:solidFill>
            <a:srgbClr val="ECFBF8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56032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726680" y="225856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Muito usado no mercado</a:t>
            </a:r>
            <a:endParaRPr lang="en-US" sz="1650" dirty="0"/>
          </a:p>
        </p:txBody>
      </p:sp>
      <p:sp>
        <p:nvSpPr>
          <p:cNvPr id="13" name="Text 9"/>
          <p:cNvSpPr/>
          <p:nvPr/>
        </p:nvSpPr>
        <p:spPr>
          <a:xfrm>
            <a:off x="7726680" y="26974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 em incontáveis sites e sistemas reais.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40080" y="3840480"/>
            <a:ext cx="54406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1005840" y="4297680"/>
            <a:ext cx="914400" cy="914400"/>
          </a:xfrm>
          <a:prstGeom prst="ellipse">
            <a:avLst/>
          </a:prstGeom>
          <a:solidFill>
            <a:srgbClr val="ECFBF8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452628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2103120" y="422452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Integra com o Workbench</a:t>
            </a:r>
            <a:endParaRPr lang="en-US" sz="1650" dirty="0"/>
          </a:p>
        </p:txBody>
      </p:sp>
      <p:sp>
        <p:nvSpPr>
          <p:cNvPr id="18" name="Text 13"/>
          <p:cNvSpPr/>
          <p:nvPr/>
        </p:nvSpPr>
        <p:spPr>
          <a:xfrm>
            <a:off x="2103120" y="46634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visual que facilita aprender e praticar.</a:t>
            </a:r>
            <a:endParaRPr lang="en-US" sz="1350" dirty="0"/>
          </a:p>
        </p:txBody>
      </p:sp>
      <p:sp>
        <p:nvSpPr>
          <p:cNvPr id="19" name="Shape 14"/>
          <p:cNvSpPr/>
          <p:nvPr/>
        </p:nvSpPr>
        <p:spPr>
          <a:xfrm>
            <a:off x="6263640" y="3840480"/>
            <a:ext cx="54406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629400" y="4297680"/>
            <a:ext cx="914400" cy="914400"/>
          </a:xfrm>
          <a:prstGeom prst="ellipse">
            <a:avLst/>
          </a:prstGeom>
          <a:solidFill>
            <a:srgbClr val="ECFBF8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526280"/>
            <a:ext cx="457200" cy="45720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726680" y="422452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Roda no nosso laboratório</a:t>
            </a:r>
            <a:endParaRPr lang="en-US" sz="1650" dirty="0"/>
          </a:p>
        </p:txBody>
      </p:sp>
      <p:sp>
        <p:nvSpPr>
          <p:cNvPr id="23" name="Text 17"/>
          <p:cNvSpPr/>
          <p:nvPr/>
        </p:nvSpPr>
        <p:spPr>
          <a:xfrm>
            <a:off x="7726680" y="46634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bem no Linux Mint que já usamos.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3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-2194560"/>
            <a:ext cx="5943600" cy="5943600"/>
          </a:xfrm>
          <a:prstGeom prst="ellipse">
            <a:avLst/>
          </a:prstGeom>
          <a:solidFill>
            <a:srgbClr val="0B5566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0" y="914400"/>
            <a:ext cx="45720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b="1" dirty="0">
                <a:solidFill>
                  <a:srgbClr val="0C4647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04</a:t>
            </a:r>
            <a:endParaRPr lang="en-US" sz="20000" dirty="0"/>
          </a:p>
        </p:txBody>
      </p:sp>
      <p:sp>
        <p:nvSpPr>
          <p:cNvPr id="4" name="Text 2"/>
          <p:cNvSpPr/>
          <p:nvPr/>
        </p:nvSpPr>
        <p:spPr>
          <a:xfrm>
            <a:off x="822960" y="2240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01 · FIXAÇÃO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651760"/>
            <a:ext cx="8686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Exercício de revisão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82296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DC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04 · 50 min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A3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04 · FIXAÇÃO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Exercício de revisão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603504"/>
          </a:xfrm>
          <a:prstGeom prst="roundRect">
            <a:avLst>
              <a:gd name="adj" fmla="val 10606"/>
            </a:avLst>
          </a:prstGeom>
          <a:solidFill>
            <a:srgbClr val="0C4647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182880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Com suas palavras, o que é um banco de dados?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542032"/>
            <a:ext cx="10881360" cy="603504"/>
          </a:xfrm>
          <a:prstGeom prst="roundRect">
            <a:avLst>
              <a:gd name="adj" fmla="val 10606"/>
            </a:avLst>
          </a:prstGeom>
          <a:solidFill>
            <a:srgbClr val="0C4647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542032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Qual a diferença entre dado e informação? Dê um exemplo.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255264"/>
            <a:ext cx="10881360" cy="603504"/>
          </a:xfrm>
          <a:prstGeom prst="roundRect">
            <a:avLst>
              <a:gd name="adj" fmla="val 10606"/>
            </a:avLst>
          </a:prstGeom>
          <a:solidFill>
            <a:srgbClr val="0C4647"/>
          </a:solidFill>
          <a:ln/>
        </p:spPr>
      </p:sp>
      <p:sp>
        <p:nvSpPr>
          <p:cNvPr id="9" name="Text 7"/>
          <p:cNvSpPr/>
          <p:nvPr/>
        </p:nvSpPr>
        <p:spPr>
          <a:xfrm>
            <a:off x="960120" y="3255264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Cite três problemas de guardar dados em arquivos soltos.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3968496"/>
            <a:ext cx="10881360" cy="603504"/>
          </a:xfrm>
          <a:prstGeom prst="roundRect">
            <a:avLst>
              <a:gd name="adj" fmla="val 10606"/>
            </a:avLst>
          </a:prstGeom>
          <a:solidFill>
            <a:srgbClr val="0C4647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968496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O que significa a sigla SGBD e qual é o seu papel?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681728"/>
            <a:ext cx="10881360" cy="603504"/>
          </a:xfrm>
          <a:prstGeom prst="roundRect">
            <a:avLst>
              <a:gd name="adj" fmla="val 10606"/>
            </a:avLst>
          </a:prstGeom>
          <a:solidFill>
            <a:srgbClr val="0C4647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" y="4681728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Liste três funções de um SGBD.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5394960"/>
            <a:ext cx="10881360" cy="603504"/>
          </a:xfrm>
          <a:prstGeom prst="roundRect">
            <a:avLst>
              <a:gd name="adj" fmla="val 10606"/>
            </a:avLst>
          </a:prstGeom>
          <a:solidFill>
            <a:srgbClr val="0C4647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539496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Dê um exemplo de SGBD relacional e um de não relacional.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04 · GABARITO COMENTADO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Respostas esperadas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19656"/>
            <a:ext cx="457200" cy="45720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819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80160" y="178308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2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Coleção de dados organizada para ser acessada, buscada e atualizada com facilidade.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2496312"/>
            <a:ext cx="457200" cy="45720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496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2459736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2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é valor isolado (28); informação é o dado com contexto (Ana tem 28 anos).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3172968"/>
            <a:ext cx="457200" cy="45720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172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80160" y="3136392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2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Redundância, inconsistência, busca difícil e falta de controle de acesso (cite 3).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40080" y="3849624"/>
            <a:ext cx="457200" cy="45720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8496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81304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2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Gerenciador de Banco de Dados: software que gerencia o acesso aos dados.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4526280"/>
            <a:ext cx="457200" cy="45720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80160" y="448970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2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Armazenar, consultar, garantir integridade, segurança, multiusuário, backup (cite 3).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40080" y="5202936"/>
            <a:ext cx="457200" cy="45720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5202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80160" y="516636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2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Relacional: MySQL / MariaDB / PostgreSQL. Não relacional: MongoDB.</a:t>
            </a:r>
            <a:endParaRPr lang="en-US" sz="14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04 · DESAFIO EXTRA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Para pensar além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40680" cy="3291840"/>
          </a:xfrm>
          <a:prstGeom prst="roundRect">
            <a:avLst>
              <a:gd name="adj" fmla="val 2778"/>
            </a:avLst>
          </a:prstGeom>
          <a:solidFill>
            <a:srgbClr val="ECFBF8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24028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246888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329184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Modele uma tabela de produtos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005840" y="3886200"/>
            <a:ext cx="4709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loja precisa guardar seus produtos. Que campos a tabela Produto teria? (dica: nome, preço, quantidade...)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263640" y="1874520"/>
            <a:ext cx="5440680" cy="3291840"/>
          </a:xfrm>
          <a:prstGeom prst="roundRect">
            <a:avLst>
              <a:gd name="adj" fmla="val 2778"/>
            </a:avLst>
          </a:prstGeom>
          <a:solidFill>
            <a:srgbClr val="ECFBF8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629400" y="224028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46888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629400" y="329184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Encontre entidades na sua escola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6629400" y="3886200"/>
            <a:ext cx="4709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Pense em duas "coisas" da escola sobre as quais guardaríamos dados e como elas se relacionam.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640080" y="54406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0B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Esses desafios já preparam o terreno para a modelagem, que começa na Aula 05.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A3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-2194560"/>
            <a:ext cx="5943600" cy="5943600"/>
          </a:xfrm>
          <a:prstGeom prst="ellipse">
            <a:avLst/>
          </a:prstGeom>
          <a:solidFill>
            <a:srgbClr val="0B5566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0" y="914400"/>
            <a:ext cx="45720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b="1" dirty="0">
                <a:solidFill>
                  <a:srgbClr val="0C4647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05</a:t>
            </a:r>
            <a:endParaRPr lang="en-US" sz="20000" dirty="0"/>
          </a:p>
        </p:txBody>
      </p:sp>
      <p:sp>
        <p:nvSpPr>
          <p:cNvPr id="4" name="Text 2"/>
          <p:cNvSpPr/>
          <p:nvPr/>
        </p:nvSpPr>
        <p:spPr>
          <a:xfrm>
            <a:off x="822960" y="2240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01 · MODELAGEM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651760"/>
            <a:ext cx="8686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Introdução à modelagem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82296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DC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05 · 50 min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05 · POR QUE MODELAR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Antes de criar, a gente planeja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Modelar é desenhar a estrutura do banco antes de construí-lo — como a planta antes da casa. Isso acontece em três níveis: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383280" cy="2743200"/>
          </a:xfrm>
          <a:prstGeom prst="roundRect">
            <a:avLst>
              <a:gd name="adj" fmla="val 3333"/>
            </a:avLst>
          </a:prstGeom>
          <a:solidFill>
            <a:srgbClr val="ECFBF8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3063240"/>
            <a:ext cx="868680" cy="8686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7290" y="3280410"/>
            <a:ext cx="434340" cy="4343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965960" y="3108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 · Conceitual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960120" y="411480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ideia geral, sem tecnologia. Entidades e relacionamentos.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023360" y="4114800"/>
            <a:ext cx="246888" cy="0"/>
          </a:xfrm>
          <a:prstGeom prst="line">
            <a:avLst/>
          </a:prstGeom>
          <a:noFill/>
          <a:ln w="31750">
            <a:solidFill>
              <a:srgbClr val="0B5566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4270248" y="2743200"/>
            <a:ext cx="338328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90288" y="3063240"/>
            <a:ext cx="868680" cy="868680"/>
          </a:xfrm>
          <a:prstGeom prst="ellipse">
            <a:avLst/>
          </a:prstGeom>
          <a:solidFill>
            <a:srgbClr val="ECFBF8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7458" y="3280410"/>
            <a:ext cx="434340" cy="4343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596128" y="3108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 · Lógico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4590288" y="411480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Traduz para tabelas, colunas e chaves, sem um SGBD específico.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7653528" y="4114800"/>
            <a:ext cx="246888" cy="0"/>
          </a:xfrm>
          <a:prstGeom prst="line">
            <a:avLst/>
          </a:prstGeom>
          <a:noFill/>
          <a:ln w="31750">
            <a:solidFill>
              <a:srgbClr val="0B5566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7900416" y="2743200"/>
            <a:ext cx="338328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220456" y="3063240"/>
            <a:ext cx="868680" cy="868680"/>
          </a:xfrm>
          <a:prstGeom prst="ellipse">
            <a:avLst/>
          </a:prstGeom>
          <a:solidFill>
            <a:srgbClr val="ECFBF8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7626" y="3280410"/>
            <a:ext cx="434340" cy="4343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9226296" y="3108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 · Físico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8220456" y="411480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será de fato no SGBD escolhido, com tipos e comandos SQL.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640080" y="5760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B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Começamos pelo nível conceitual.</a:t>
            </a:r>
            <a:endParaRPr lang="en-US" sz="14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05 · MODELO CONCEITUAL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Três peças fundamentais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584448" cy="3749040"/>
          </a:xfrm>
          <a:prstGeom prst="roundRect">
            <a:avLst>
              <a:gd name="adj" fmla="val 2551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194560"/>
            <a:ext cx="914400" cy="914400"/>
          </a:xfrm>
          <a:prstGeom prst="ellipse">
            <a:avLst/>
          </a:prstGeom>
          <a:solidFill>
            <a:srgbClr val="ECFBF8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242316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32918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Entidade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1005840" y="37947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"ser" sobre o qual guardamos dados.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005840" y="49834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Aluno, Turma, Professor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471416" y="1828800"/>
            <a:ext cx="3584448" cy="3749040"/>
          </a:xfrm>
          <a:prstGeom prst="roundRect">
            <a:avLst>
              <a:gd name="adj" fmla="val 2551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837176" y="2194560"/>
            <a:ext cx="914400" cy="914400"/>
          </a:xfrm>
          <a:prstGeom prst="ellipse">
            <a:avLst/>
          </a:prstGeom>
          <a:solidFill>
            <a:srgbClr val="ECFBF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5776" y="242316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837176" y="32918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Atributo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4837176" y="37947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característica da entidade.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837176" y="49834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nome, idade, matrícula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302752" y="1828800"/>
            <a:ext cx="3584448" cy="3749040"/>
          </a:xfrm>
          <a:prstGeom prst="roundRect">
            <a:avLst>
              <a:gd name="adj" fmla="val 2551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668512" y="2194560"/>
            <a:ext cx="914400" cy="914400"/>
          </a:xfrm>
          <a:prstGeom prst="ellipse">
            <a:avLst/>
          </a:prstGeom>
          <a:solidFill>
            <a:srgbClr val="ECFBF8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7112" y="2423160"/>
            <a:ext cx="457200" cy="45720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668512" y="32918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Relacionamento</a:t>
            </a:r>
            <a:endParaRPr lang="en-US" sz="1900" dirty="0"/>
          </a:p>
        </p:txBody>
      </p:sp>
      <p:sp>
        <p:nvSpPr>
          <p:cNvPr id="20" name="Text 15"/>
          <p:cNvSpPr/>
          <p:nvPr/>
        </p:nvSpPr>
        <p:spPr>
          <a:xfrm>
            <a:off x="8668512" y="37947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ligação entre duas entidades.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8668512" y="49834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Aluno se matricula em Turma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05 · RELACIONAMENTOS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Cardinalidade: quantos se relacionam com quantos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584448" cy="3931920"/>
          </a:xfrm>
          <a:prstGeom prst="roundRect">
            <a:avLst>
              <a:gd name="adj" fmla="val 2551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1031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749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 : 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914400" y="26517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para um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14400" y="3200400"/>
            <a:ext cx="1325880" cy="548640"/>
          </a:xfrm>
          <a:prstGeom prst="roundRect">
            <a:avLst>
              <a:gd name="adj" fmla="val 10000"/>
            </a:avLst>
          </a:prstGeom>
          <a:solidFill>
            <a:srgbClr val="ECFBF8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20040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240280" y="3474720"/>
            <a:ext cx="384048" cy="0"/>
          </a:xfrm>
          <a:prstGeom prst="line">
            <a:avLst/>
          </a:prstGeom>
          <a:noFill/>
          <a:ln w="25400">
            <a:solidFill>
              <a:srgbClr val="0B5566"/>
            </a:solidFill>
            <a:prstDash val="solid"/>
            <a:headEnd type="triangl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624328" y="3200400"/>
            <a:ext cx="1325880" cy="548640"/>
          </a:xfrm>
          <a:prstGeom prst="roundRect">
            <a:avLst>
              <a:gd name="adj" fmla="val 10000"/>
            </a:avLst>
          </a:prstGeom>
          <a:solidFill>
            <a:srgbClr val="ECFBF8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24328" y="320040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CPF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14400" y="3977640"/>
            <a:ext cx="3035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pessoa tem um único CPF, e cada CPF é de uma só pessoa.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471416" y="1828800"/>
            <a:ext cx="3584448" cy="3931920"/>
          </a:xfrm>
          <a:prstGeom prst="roundRect">
            <a:avLst>
              <a:gd name="adj" fmla="val 2551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45736" y="21031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749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 : N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745736" y="26517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para muitos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745736" y="3200400"/>
            <a:ext cx="1325880" cy="548640"/>
          </a:xfrm>
          <a:prstGeom prst="roundRect">
            <a:avLst>
              <a:gd name="adj" fmla="val 10000"/>
            </a:avLst>
          </a:prstGeom>
          <a:solidFill>
            <a:srgbClr val="ECFBF8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45736" y="320040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071616" y="3474720"/>
            <a:ext cx="384048" cy="0"/>
          </a:xfrm>
          <a:prstGeom prst="line">
            <a:avLst/>
          </a:prstGeom>
          <a:noFill/>
          <a:ln w="25400">
            <a:solidFill>
              <a:srgbClr val="0B5566"/>
            </a:solidFill>
            <a:prstDash val="solid"/>
            <a:headEnd type="triangl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455664" y="3200400"/>
            <a:ext cx="1325880" cy="548640"/>
          </a:xfrm>
          <a:prstGeom prst="roundRect">
            <a:avLst>
              <a:gd name="adj" fmla="val 10000"/>
            </a:avLst>
          </a:prstGeom>
          <a:solidFill>
            <a:srgbClr val="ECFBF8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55664" y="320040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745736" y="3977640"/>
            <a:ext cx="3035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cliente faz vários pedidos, mas cada pedido é de um cliente.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302752" y="1828800"/>
            <a:ext cx="3584448" cy="3931920"/>
          </a:xfrm>
          <a:prstGeom prst="roundRect">
            <a:avLst>
              <a:gd name="adj" fmla="val 2551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577072" y="21031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749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 : N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8577072" y="26517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Muitos para muitos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577072" y="3200400"/>
            <a:ext cx="1325880" cy="548640"/>
          </a:xfrm>
          <a:prstGeom prst="roundRect">
            <a:avLst>
              <a:gd name="adj" fmla="val 10000"/>
            </a:avLst>
          </a:prstGeom>
          <a:solidFill>
            <a:srgbClr val="ECFBF8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577072" y="320040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Aluno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9902952" y="3474720"/>
            <a:ext cx="384048" cy="0"/>
          </a:xfrm>
          <a:prstGeom prst="line">
            <a:avLst/>
          </a:prstGeom>
          <a:noFill/>
          <a:ln w="25400">
            <a:solidFill>
              <a:srgbClr val="0B5566"/>
            </a:solidFill>
            <a:prstDash val="solid"/>
            <a:headEnd type="triangl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287000" y="3200400"/>
            <a:ext cx="1325880" cy="548640"/>
          </a:xfrm>
          <a:prstGeom prst="roundRect">
            <a:avLst>
              <a:gd name="adj" fmla="val 10000"/>
            </a:avLst>
          </a:prstGeom>
          <a:solidFill>
            <a:srgbClr val="ECFBF8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287000" y="320040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8577072" y="3977640"/>
            <a:ext cx="3035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aluno cursa várias turmas e uma turma tem vários alunos.</a:t>
            </a:r>
            <a:endParaRPr lang="en-US" sz="13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05 · EXEMPLO PRÁTICO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Um modelo conceitual de matrícula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14400" y="3108960"/>
            <a:ext cx="2377440" cy="914400"/>
          </a:xfrm>
          <a:prstGeom prst="rect">
            <a:avLst/>
          </a:prstGeom>
          <a:solidFill>
            <a:srgbClr val="0E7490"/>
          </a:solidFill>
          <a:ln/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31089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ALUNO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869680" y="3108960"/>
            <a:ext cx="2377440" cy="914400"/>
          </a:xfrm>
          <a:prstGeom prst="rect">
            <a:avLst/>
          </a:prstGeom>
          <a:solidFill>
            <a:srgbClr val="0E7490"/>
          </a:solidFill>
          <a:ln/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869680" y="31089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TURMA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937760" y="2880360"/>
            <a:ext cx="2286000" cy="1371600"/>
          </a:xfrm>
          <a:prstGeom prst="diamond">
            <a:avLst/>
          </a:prstGeom>
          <a:solidFill>
            <a:srgbClr val="14B8A6"/>
          </a:solidFill>
          <a:ln/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937760" y="288036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33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Matricula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91840" y="3566160"/>
            <a:ext cx="1645920" cy="0"/>
          </a:xfrm>
          <a:prstGeom prst="line">
            <a:avLst/>
          </a:prstGeom>
          <a:noFill/>
          <a:ln w="25400">
            <a:solidFill>
              <a:srgbClr val="0B55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23760" y="3566160"/>
            <a:ext cx="1645920" cy="0"/>
          </a:xfrm>
          <a:prstGeom prst="line">
            <a:avLst/>
          </a:prstGeom>
          <a:noFill/>
          <a:ln w="25400">
            <a:solidFill>
              <a:srgbClr val="0B556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0" y="31546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556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863840" y="31546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556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914400" y="3108960"/>
            <a:ext cx="0" cy="-548640"/>
          </a:xfrm>
          <a:prstGeom prst="line">
            <a:avLst/>
          </a:prstGeom>
          <a:noFill/>
          <a:ln w="15875">
            <a:solidFill>
              <a:srgbClr val="0E749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103120" y="3108960"/>
            <a:ext cx="0" cy="-548640"/>
          </a:xfrm>
          <a:prstGeom prst="line">
            <a:avLst/>
          </a:prstGeom>
          <a:noFill/>
          <a:ln w="15875">
            <a:solidFill>
              <a:srgbClr val="0E749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91840" y="3108960"/>
            <a:ext cx="0" cy="-548640"/>
          </a:xfrm>
          <a:prstGeom prst="line">
            <a:avLst/>
          </a:prstGeom>
          <a:noFill/>
          <a:ln w="15875">
            <a:solidFill>
              <a:srgbClr val="0E749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760" y="2103120"/>
            <a:ext cx="1097280" cy="4572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E749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031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u="sng" dirty="0">
                <a:solidFill>
                  <a:srgbClr val="12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matricula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554480" y="2103120"/>
            <a:ext cx="1097280" cy="4572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E749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554480" y="21031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2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743200" y="2103120"/>
            <a:ext cx="1097280" cy="4572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E749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43200" y="21031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2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idade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40080" y="52120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Leitura: um ALUNO se matricula em uma TURMA. O "N" dos dois lados indica relação N:N.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58521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0B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Retângulo = entidade · Elipse = atributo · Losango = relacionamento · Sublinhado = chave.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05 · PRATICANDO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Lendo um diagrama — e a sua vez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349240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20574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Como ler um diagrama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1005840" y="2606040"/>
            <a:ext cx="384048" cy="384048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54480" y="260604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as entidades (os retângulos).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05840" y="3319272"/>
            <a:ext cx="384048" cy="384048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3319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554480" y="331927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Veja os atributos de cada uma (as elipses).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005840" y="4032504"/>
            <a:ext cx="384048" cy="384048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4032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554480" y="403250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Identifique o relacionamento (o losango).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005840" y="4745736"/>
            <a:ext cx="384048" cy="384048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4745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554480" y="4745736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Leia a cardinalidade (1:1, 1:N ou N:N).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172200" y="1828800"/>
            <a:ext cx="5349240" cy="3931920"/>
          </a:xfrm>
          <a:prstGeom prst="roundRect">
            <a:avLst>
              <a:gd name="adj" fmla="val 2326"/>
            </a:avLst>
          </a:prstGeom>
          <a:solidFill>
            <a:srgbClr val="ECFBF8"/>
          </a:solidFill>
          <a:ln w="12700">
            <a:solidFill>
              <a:srgbClr val="CFE6E2"/>
            </a:solidFill>
            <a:prstDash val="solid"/>
          </a:ln>
          <a:effectLst>
            <a:outerShdw sx="100000" sy="100000" kx="0" ky="0" algn="bl" rotWithShape="0" blurRad="88900" dist="38100" dir="5400000">
              <a:srgbClr val="0A3334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537960" y="2148840"/>
            <a:ext cx="822960" cy="8229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3700" y="2354580"/>
            <a:ext cx="411480" cy="41148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7498080" y="22402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02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Sua vez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6537960" y="30175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 o conceitual de uma biblioteca: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6537960" y="3429000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Entidades: Livro e Leitor.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Atributos: o que guardar de cada um?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Relacionamento: "Leitor pega emprestado Livro".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Cardinalidade: qual seria? Por quê?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A3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840480"/>
            <a:ext cx="5486400" cy="5486400"/>
          </a:xfrm>
          <a:prstGeom prst="ellipse">
            <a:avLst/>
          </a:prstGeom>
          <a:solidFill>
            <a:srgbClr val="0C4647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RECAPITULANDO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2344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 que você já sabe agora</a:t>
            </a:r>
            <a:endParaRPr lang="en-US" sz="3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359152"/>
            <a:ext cx="310896" cy="310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1600" y="233172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um banco de dados e onde ele aparece no dia a dia.</a:t>
            </a:r>
            <a:endParaRPr lang="en-US" sz="165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926080"/>
            <a:ext cx="310896" cy="31089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71600" y="2898648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diferença entre dado e informação.</a:t>
            </a:r>
            <a:endParaRPr lang="en-US" sz="16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493008"/>
            <a:ext cx="310896" cy="31089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371600" y="3465576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um SGBD, o que ele faz e quais são os principais.</a:t>
            </a:r>
            <a:endParaRPr lang="en-US" sz="165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059936"/>
            <a:ext cx="310896" cy="310896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371600" y="4032504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ideia de modelagem, as três peças e a cardinalidade.</a:t>
            </a:r>
            <a:endParaRPr lang="en-US" sz="1650" dirty="0"/>
          </a:p>
        </p:txBody>
      </p:sp>
      <p:sp>
        <p:nvSpPr>
          <p:cNvPr id="13" name="Shape 7"/>
          <p:cNvSpPr/>
          <p:nvPr/>
        </p:nvSpPr>
        <p:spPr>
          <a:xfrm>
            <a:off x="822960" y="5074920"/>
            <a:ext cx="10515600" cy="1051560"/>
          </a:xfrm>
          <a:prstGeom prst="roundRect">
            <a:avLst>
              <a:gd name="adj" fmla="val 8696"/>
            </a:avLst>
          </a:prstGeom>
          <a:solidFill>
            <a:srgbClr val="0E7490"/>
          </a:solidFill>
          <a:ln/>
        </p:spPr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8720" y="5349240"/>
            <a:ext cx="502920" cy="50292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920240" y="5074920"/>
            <a:ext cx="9144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módulo  </a:t>
            </a:r>
            <a:pPr indent="0" marL="0">
              <a:buNone/>
            </a:pPr>
            <a:r>
              <a:rPr lang="en-US" sz="16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Módulo 02: Modelagem de Dados (entidades, relacionamentos e o brModelo).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Banco de Dados — Módulo 01</dc:title>
  <dc:subject>PptxGenJS Presentation</dc:subject>
  <dc:creator>Francisco Ericson</dc:creator>
  <cp:lastModifiedBy>Francisco Ericson</cp:lastModifiedBy>
  <cp:revision>1</cp:revision>
  <dcterms:created xsi:type="dcterms:W3CDTF">2026-08-03T19:15:54Z</dcterms:created>
  <dcterms:modified xsi:type="dcterms:W3CDTF">2026-08-03T19:15:54Z</dcterms:modified>
</cp:coreProperties>
</file>